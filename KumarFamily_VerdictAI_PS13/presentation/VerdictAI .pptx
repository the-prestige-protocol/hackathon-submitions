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1" r:id="rId5"/>
    <p:sldId id="262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768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28600" y="6858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JUSTICE is Delayed.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" y="13258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D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Readiness Shouldn't Be.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2029967"/>
            <a:ext cx="4727448" cy="45719"/>
          </a:xfrm>
          <a:prstGeom prst="rect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01168" y="2203704"/>
            <a:ext cx="4754880" cy="685800"/>
          </a:xfrm>
          <a:prstGeom prst="rect">
            <a:avLst/>
          </a:prstGeom>
          <a:solidFill>
            <a:srgbClr val="012D6B"/>
          </a:solidFill>
          <a:ln w="12700">
            <a:solidFill>
              <a:srgbClr val="0A52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31343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2402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50M+ pending cases in Indian courts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25694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8E0"/>
                </a:solidFill>
              </a:rPr>
              <a:t>World's largest court backlog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01168" y="2999232"/>
            <a:ext cx="4754880" cy="685800"/>
          </a:xfrm>
          <a:prstGeom prst="rect">
            <a:avLst/>
          </a:prstGeom>
          <a:solidFill>
            <a:srgbClr val="012D6B"/>
          </a:solidFill>
          <a:ln w="12700">
            <a:solidFill>
              <a:srgbClr val="0A52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31089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" y="30358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Most litigants enter court unprepared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22960" y="33649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8E0"/>
                </a:solidFill>
              </a:rPr>
              <a:t>No clarity on case strength or cost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01168" y="3794760"/>
            <a:ext cx="4754880" cy="685800"/>
          </a:xfrm>
          <a:prstGeom prst="rect">
            <a:avLst/>
          </a:prstGeom>
          <a:solidFill>
            <a:srgbClr val="012D6B"/>
          </a:solidFill>
          <a:ln w="12700">
            <a:solidFill>
              <a:srgbClr val="0A52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90448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38313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Wasted time, money &amp; judicial bandwidth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2960" y="41605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8E0"/>
                </a:solidFill>
              </a:rPr>
              <a:t>~70% of cases settle or withdraw late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0" y="633046"/>
            <a:ext cx="3383280" cy="4114800"/>
          </a:xfrm>
          <a:prstGeom prst="rect">
            <a:avLst/>
          </a:prstGeom>
          <a:solidFill>
            <a:srgbClr val="012D6B"/>
          </a:solidFill>
          <a:ln w="12700">
            <a:solidFill>
              <a:srgbClr val="0A52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5486400" y="640080"/>
            <a:ext cx="3383280" cy="54864"/>
          </a:xfrm>
          <a:prstGeom prst="rect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/>
          <p:nvPr/>
        </p:nvSpPr>
        <p:spPr>
          <a:xfrm>
            <a:off x="5486400" y="77091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400" dirty="0">
                <a:solidFill>
                  <a:srgbClr val="D4D700"/>
                </a:solidFill>
              </a:rPr>
              <a:t>THE SCALE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532120" y="114370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E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50M+</a:t>
            </a:r>
            <a:endParaRPr lang="en-US" sz="3400" dirty="0"/>
          </a:p>
        </p:txBody>
      </p:sp>
      <p:sp>
        <p:nvSpPr>
          <p:cNvPr id="23" name="Text 18"/>
          <p:cNvSpPr/>
          <p:nvPr/>
        </p:nvSpPr>
        <p:spPr>
          <a:xfrm>
            <a:off x="5532120" y="1591057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8E0"/>
                </a:solidFill>
              </a:rPr>
              <a:t>Pending Cases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532120" y="1980729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E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3–15</a:t>
            </a:r>
            <a:endParaRPr lang="en-US" sz="3400" dirty="0"/>
          </a:p>
        </p:txBody>
      </p:sp>
      <p:sp>
        <p:nvSpPr>
          <p:cNvPr id="25" name="Text 20"/>
          <p:cNvSpPr/>
          <p:nvPr/>
        </p:nvSpPr>
        <p:spPr>
          <a:xfrm>
            <a:off x="5532120" y="249138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8E0"/>
                </a:solidFill>
              </a:rPr>
              <a:t>Avg. Years to Resolution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532120" y="29865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E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₹2L+</a:t>
            </a:r>
            <a:endParaRPr lang="en-US" sz="3400" dirty="0"/>
          </a:p>
        </p:txBody>
      </p:sp>
      <p:sp>
        <p:nvSpPr>
          <p:cNvPr id="27" name="Text 22"/>
          <p:cNvSpPr/>
          <p:nvPr/>
        </p:nvSpPr>
        <p:spPr>
          <a:xfrm>
            <a:off x="5532120" y="339875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8E0"/>
                </a:solidFill>
              </a:rPr>
              <a:t>Avg. Litigation Cost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5532120" y="3837665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E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3400" dirty="0"/>
          </a:p>
        </p:txBody>
      </p:sp>
      <p:sp>
        <p:nvSpPr>
          <p:cNvPr id="29" name="Text 24"/>
          <p:cNvSpPr/>
          <p:nvPr/>
        </p:nvSpPr>
        <p:spPr>
          <a:xfrm>
            <a:off x="5532120" y="425687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8E0"/>
                </a:solidFill>
              </a:rPr>
              <a:t>Litigants Without Lawyers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235634" y="466414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4D700"/>
                </a:solidFill>
              </a:rPr>
              <a:t>Access to legal clarity is not a privilege — it's a right.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3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28600" y="6400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Complaint to Case Readiness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11155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8E0"/>
                </a:solidFill>
              </a:rPr>
              <a:t>A 7-step AI pipeline — transparent, explainable, decision-support only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1600200"/>
            <a:ext cx="1051560" cy="1005840"/>
          </a:xfrm>
          <a:prstGeom prst="rect">
            <a:avLst/>
          </a:prstGeom>
          <a:solidFill>
            <a:srgbClr val="012D6B"/>
          </a:solidFill>
          <a:ln w="12700">
            <a:solidFill>
              <a:srgbClr val="0A52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01168" y="1600200"/>
            <a:ext cx="1051560" cy="54864"/>
          </a:xfrm>
          <a:prstGeom prst="rect">
            <a:avLst/>
          </a:prstGeom>
          <a:solidFill>
            <a:srgbClr val="0A52A8"/>
          </a:solidFill>
          <a:ln w="12700">
            <a:solidFill>
              <a:srgbClr val="0A52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691640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" y="2057400"/>
            <a:ext cx="10515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User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Complaint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252728" y="2103120"/>
            <a:ext cx="192024" cy="0"/>
          </a:xfrm>
          <a:prstGeom prst="line">
            <a:avLst/>
          </a:prstGeom>
          <a:noFill/>
          <a:ln w="1905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325880" y="196596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700"/>
                </a:solidFill>
              </a:rPr>
              <a:t>›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490472" y="1600200"/>
            <a:ext cx="1051560" cy="1005840"/>
          </a:xfrm>
          <a:prstGeom prst="rect">
            <a:avLst/>
          </a:prstGeom>
          <a:solidFill>
            <a:srgbClr val="012D6B"/>
          </a:solidFill>
          <a:ln w="12700">
            <a:solidFill>
              <a:srgbClr val="0A52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1490472" y="1600200"/>
            <a:ext cx="1051560" cy="54864"/>
          </a:xfrm>
          <a:prstGeom prst="rect">
            <a:avLst/>
          </a:prstGeom>
          <a:solidFill>
            <a:srgbClr val="0A52A8"/>
          </a:solidFill>
          <a:ln w="12700">
            <a:solidFill>
              <a:srgbClr val="0A52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1691640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90472" y="2057400"/>
            <a:ext cx="10515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AI Intake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Decomposition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2542032" y="2103120"/>
            <a:ext cx="192024" cy="0"/>
          </a:xfrm>
          <a:prstGeom prst="line">
            <a:avLst/>
          </a:prstGeom>
          <a:noFill/>
          <a:ln w="1905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2615184" y="196596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700"/>
                </a:solidFill>
              </a:rPr>
              <a:t>›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779776" y="1600200"/>
            <a:ext cx="1051560" cy="1005840"/>
          </a:xfrm>
          <a:prstGeom prst="rect">
            <a:avLst/>
          </a:prstGeom>
          <a:solidFill>
            <a:srgbClr val="012D6B"/>
          </a:solidFill>
          <a:ln w="12700">
            <a:solidFill>
              <a:srgbClr val="0A52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2779776" y="1600200"/>
            <a:ext cx="1051560" cy="54864"/>
          </a:xfrm>
          <a:prstGeom prst="rect">
            <a:avLst/>
          </a:prstGeom>
          <a:solidFill>
            <a:srgbClr val="0A52A8"/>
          </a:solidFill>
          <a:ln w="12700">
            <a:solidFill>
              <a:srgbClr val="0A52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1691640"/>
            <a:ext cx="338328" cy="3383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779776" y="2057400"/>
            <a:ext cx="10515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Semantic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Precedents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3831336" y="2103120"/>
            <a:ext cx="192024" cy="0"/>
          </a:xfrm>
          <a:prstGeom prst="line">
            <a:avLst/>
          </a:prstGeom>
          <a:noFill/>
          <a:ln w="1905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3904488" y="196596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700"/>
                </a:solidFill>
              </a:rPr>
              <a:t>›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069080" y="1600200"/>
            <a:ext cx="1051560" cy="1005840"/>
          </a:xfrm>
          <a:prstGeom prst="rect">
            <a:avLst/>
          </a:prstGeom>
          <a:solidFill>
            <a:srgbClr val="012D6B"/>
          </a:solidFill>
          <a:ln w="12700">
            <a:solidFill>
              <a:srgbClr val="0A52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4069080" y="1600200"/>
            <a:ext cx="1051560" cy="54864"/>
          </a:xfrm>
          <a:prstGeom prst="rect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984" y="1691640"/>
            <a:ext cx="338328" cy="33832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069080" y="2057400"/>
            <a:ext cx="10515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Strength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Risk Score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5120640" y="2103120"/>
            <a:ext cx="192024" cy="0"/>
          </a:xfrm>
          <a:prstGeom prst="line">
            <a:avLst/>
          </a:prstGeom>
          <a:noFill/>
          <a:ln w="1905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2"/>
          <p:cNvSpPr/>
          <p:nvPr/>
        </p:nvSpPr>
        <p:spPr>
          <a:xfrm>
            <a:off x="5193792" y="196596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700"/>
                </a:solidFill>
              </a:rPr>
              <a:t>›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358384" y="1600200"/>
            <a:ext cx="1051560" cy="1005840"/>
          </a:xfrm>
          <a:prstGeom prst="rect">
            <a:avLst/>
          </a:prstGeom>
          <a:solidFill>
            <a:srgbClr val="012D6B"/>
          </a:solidFill>
          <a:ln w="12700">
            <a:solidFill>
              <a:srgbClr val="0A52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5358384" y="1600200"/>
            <a:ext cx="1051560" cy="54864"/>
          </a:xfrm>
          <a:prstGeom prst="rect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3288" y="1691640"/>
            <a:ext cx="338328" cy="33832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358384" y="2057400"/>
            <a:ext cx="10515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Law Sections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&amp; Guidance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6409944" y="2103120"/>
            <a:ext cx="192024" cy="0"/>
          </a:xfrm>
          <a:prstGeom prst="line">
            <a:avLst/>
          </a:prstGeom>
          <a:noFill/>
          <a:ln w="1905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7"/>
          <p:cNvSpPr/>
          <p:nvPr/>
        </p:nvSpPr>
        <p:spPr>
          <a:xfrm>
            <a:off x="6483096" y="196596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700"/>
                </a:solidFill>
              </a:rPr>
              <a:t>›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647688" y="1600200"/>
            <a:ext cx="1051560" cy="1005840"/>
          </a:xfrm>
          <a:prstGeom prst="rect">
            <a:avLst/>
          </a:prstGeom>
          <a:solidFill>
            <a:srgbClr val="012D6B"/>
          </a:solidFill>
          <a:ln w="12700">
            <a:solidFill>
              <a:srgbClr val="0A52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29"/>
          <p:cNvSpPr/>
          <p:nvPr/>
        </p:nvSpPr>
        <p:spPr>
          <a:xfrm>
            <a:off x="6647688" y="1600200"/>
            <a:ext cx="1051560" cy="54864"/>
          </a:xfrm>
          <a:prstGeom prst="rect">
            <a:avLst/>
          </a:prstGeom>
          <a:solidFill>
            <a:srgbClr val="E8EC00"/>
          </a:solidFill>
          <a:ln w="12700">
            <a:solidFill>
              <a:srgbClr val="E8E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2592" y="1691640"/>
            <a:ext cx="338328" cy="33832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647688" y="2057400"/>
            <a:ext cx="10515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Courtroom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Simulation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7699248" y="2103120"/>
            <a:ext cx="192024" cy="0"/>
          </a:xfrm>
          <a:prstGeom prst="line">
            <a:avLst/>
          </a:prstGeom>
          <a:noFill/>
          <a:ln w="1905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2"/>
          <p:cNvSpPr/>
          <p:nvPr/>
        </p:nvSpPr>
        <p:spPr>
          <a:xfrm>
            <a:off x="7772400" y="196596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700"/>
                </a:solidFill>
              </a:rPr>
              <a:t>›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7936992" y="1600200"/>
            <a:ext cx="1051560" cy="1005840"/>
          </a:xfrm>
          <a:prstGeom prst="rect">
            <a:avLst/>
          </a:prstGeom>
          <a:solidFill>
            <a:srgbClr val="012D6B"/>
          </a:solidFill>
          <a:ln w="12700">
            <a:solidFill>
              <a:srgbClr val="0A52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34"/>
          <p:cNvSpPr/>
          <p:nvPr/>
        </p:nvSpPr>
        <p:spPr>
          <a:xfrm>
            <a:off x="7936992" y="1600200"/>
            <a:ext cx="1051560" cy="54864"/>
          </a:xfrm>
          <a:prstGeom prst="rect">
            <a:avLst/>
          </a:prstGeom>
          <a:solidFill>
            <a:srgbClr val="E8EC00"/>
          </a:solidFill>
          <a:ln w="12700">
            <a:solidFill>
              <a:srgbClr val="E8E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896" y="1691640"/>
            <a:ext cx="338328" cy="33832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7936992" y="2057400"/>
            <a:ext cx="10515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Lawyer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Brief Report</a:t>
            </a:r>
            <a:endParaRPr lang="en-US" sz="850" dirty="0"/>
          </a:p>
        </p:txBody>
      </p:sp>
      <p:sp>
        <p:nvSpPr>
          <p:cNvPr id="45" name="Shape 36"/>
          <p:cNvSpPr/>
          <p:nvPr/>
        </p:nvSpPr>
        <p:spPr>
          <a:xfrm>
            <a:off x="201168" y="2834640"/>
            <a:ext cx="8741664" cy="36576"/>
          </a:xfrm>
          <a:prstGeom prst="rect">
            <a:avLst/>
          </a:prstGeom>
          <a:solidFill>
            <a:srgbClr val="0A52A8"/>
          </a:solidFill>
          <a:ln w="12700">
            <a:solidFill>
              <a:srgbClr val="0A52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37"/>
          <p:cNvSpPr/>
          <p:nvPr/>
        </p:nvSpPr>
        <p:spPr>
          <a:xfrm>
            <a:off x="201168" y="2944368"/>
            <a:ext cx="8741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300" dirty="0">
                <a:solidFill>
                  <a:srgbClr val="D4D700"/>
                </a:solidFill>
              </a:rPr>
              <a:t>ADDITIONAL INTELLIGENCE LAYERS</a:t>
            </a:r>
            <a:endParaRPr lang="en-US" sz="750" dirty="0"/>
          </a:p>
        </p:txBody>
      </p:sp>
      <p:sp>
        <p:nvSpPr>
          <p:cNvPr id="47" name="Shape 38"/>
          <p:cNvSpPr/>
          <p:nvPr/>
        </p:nvSpPr>
        <p:spPr>
          <a:xfrm>
            <a:off x="731520" y="3246120"/>
            <a:ext cx="1874520" cy="914400"/>
          </a:xfrm>
          <a:prstGeom prst="rect">
            <a:avLst/>
          </a:prstGeom>
          <a:solidFill>
            <a:srgbClr val="0A52A8"/>
          </a:solidFill>
          <a:ln w="12700">
            <a:solidFill>
              <a:srgbClr val="0A52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2184" y="3310128"/>
            <a:ext cx="320040" cy="32004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731520" y="3639312"/>
            <a:ext cx="187452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EEF8"/>
                </a:solidFill>
              </a:rPr>
              <a:t>Respondent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6EEF8"/>
                </a:solidFill>
              </a:rPr>
              <a:t>Risk Analyzer</a:t>
            </a:r>
            <a:endParaRPr lang="en-US" sz="850" dirty="0"/>
          </a:p>
        </p:txBody>
      </p:sp>
      <p:sp>
        <p:nvSpPr>
          <p:cNvPr id="50" name="Shape 40"/>
          <p:cNvSpPr/>
          <p:nvPr/>
        </p:nvSpPr>
        <p:spPr>
          <a:xfrm>
            <a:off x="2880360" y="3246120"/>
            <a:ext cx="1874520" cy="914400"/>
          </a:xfrm>
          <a:prstGeom prst="rect">
            <a:avLst/>
          </a:prstGeom>
          <a:solidFill>
            <a:srgbClr val="0A52A8"/>
          </a:solidFill>
          <a:ln w="12700">
            <a:solidFill>
              <a:srgbClr val="0A52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1024" y="3310128"/>
            <a:ext cx="320040" cy="32004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2880360" y="3639312"/>
            <a:ext cx="187452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EEF8"/>
                </a:solidFill>
              </a:rPr>
              <a:t>Duration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6EEF8"/>
                </a:solidFill>
              </a:rPr>
              <a:t>Cost Estimator</a:t>
            </a:r>
            <a:endParaRPr lang="en-US" sz="850" dirty="0"/>
          </a:p>
        </p:txBody>
      </p:sp>
      <p:sp>
        <p:nvSpPr>
          <p:cNvPr id="53" name="Shape 42"/>
          <p:cNvSpPr/>
          <p:nvPr/>
        </p:nvSpPr>
        <p:spPr>
          <a:xfrm>
            <a:off x="5029200" y="3246120"/>
            <a:ext cx="1874520" cy="914400"/>
          </a:xfrm>
          <a:prstGeom prst="rect">
            <a:avLst/>
          </a:prstGeom>
          <a:solidFill>
            <a:srgbClr val="0A52A8"/>
          </a:solidFill>
          <a:ln w="12700">
            <a:solidFill>
              <a:srgbClr val="0A52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9864" y="3310128"/>
            <a:ext cx="320040" cy="320040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5029200" y="3639312"/>
            <a:ext cx="187452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EEF8"/>
                </a:solidFill>
              </a:rPr>
              <a:t>Plain-English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6EEF8"/>
                </a:solidFill>
              </a:rPr>
              <a:t>Legal Assistant</a:t>
            </a:r>
            <a:endParaRPr lang="en-US" sz="850" dirty="0"/>
          </a:p>
        </p:txBody>
      </p:sp>
      <p:sp>
        <p:nvSpPr>
          <p:cNvPr id="56" name="Shape 44"/>
          <p:cNvSpPr/>
          <p:nvPr/>
        </p:nvSpPr>
        <p:spPr>
          <a:xfrm>
            <a:off x="7178040" y="3246120"/>
            <a:ext cx="1874520" cy="914400"/>
          </a:xfrm>
          <a:prstGeom prst="rect">
            <a:avLst/>
          </a:prstGeom>
          <a:solidFill>
            <a:srgbClr val="0A52A8"/>
          </a:solidFill>
          <a:ln w="12700">
            <a:solidFill>
              <a:srgbClr val="0A52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8704" y="3310128"/>
            <a:ext cx="320040" cy="320040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7178040" y="3639312"/>
            <a:ext cx="187452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EEF8"/>
                </a:solidFill>
              </a:rPr>
              <a:t>Legal Aid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6EEF8"/>
                </a:solidFill>
              </a:rPr>
              <a:t>Pro Bono Finder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3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1"/>
          <p:cNvSpPr/>
          <p:nvPr/>
        </p:nvSpPr>
        <p:spPr>
          <a:xfrm>
            <a:off x="6035040" y="960120"/>
            <a:ext cx="2743200" cy="3977640"/>
          </a:xfrm>
          <a:prstGeom prst="rect">
            <a:avLst/>
          </a:prstGeom>
          <a:solidFill>
            <a:srgbClr val="012D6B"/>
          </a:solidFill>
          <a:ln w="12700">
            <a:solidFill>
              <a:srgbClr val="0A52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91440"/>
            <a:ext cx="8558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54864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C8E0"/>
                </a:solidFill>
              </a:rPr>
              <a:t>Three plans — from individual citizens to law firms and institutions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8260" y="822960"/>
            <a:ext cx="8686800" cy="36576"/>
          </a:xfrm>
          <a:prstGeom prst="rect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01168" y="960120"/>
            <a:ext cx="2743200" cy="3977640"/>
          </a:xfrm>
          <a:prstGeom prst="rect">
            <a:avLst/>
          </a:prstGeom>
          <a:solidFill>
            <a:srgbClr val="012D6B"/>
          </a:solidFill>
          <a:ln w="12700">
            <a:solidFill>
              <a:srgbClr val="0A52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201168" y="960120"/>
            <a:ext cx="2743200" cy="64008"/>
          </a:xfrm>
          <a:prstGeom prst="rect">
            <a:avLst/>
          </a:prstGeom>
          <a:solidFill>
            <a:srgbClr val="0A52A8"/>
          </a:solidFill>
          <a:ln w="12700">
            <a:solidFill>
              <a:srgbClr val="0A52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107899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1168" y="15819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Citizen Plan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01168" y="18646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D700"/>
                </a:solidFill>
              </a:rPr>
              <a:t>Free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01168" y="22346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C8E0"/>
                </a:solidFill>
              </a:rPr>
              <a:t>Always free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66928" y="2496312"/>
            <a:ext cx="2011680" cy="201168"/>
          </a:xfrm>
          <a:prstGeom prst="rect">
            <a:avLst/>
          </a:prstGeom>
          <a:solidFill>
            <a:srgbClr val="0A52A8"/>
          </a:solidFill>
          <a:ln w="12700">
            <a:solidFill>
              <a:srgbClr val="0A52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0"/>
          <p:cNvSpPr/>
          <p:nvPr/>
        </p:nvSpPr>
        <p:spPr>
          <a:xfrm>
            <a:off x="566928" y="24963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chemeClr val="bg2">
                    <a:lumMod val="10000"/>
                  </a:schemeClr>
                </a:solidFill>
              </a:rPr>
              <a:t>B2C  ·  Free / Low Cost</a:t>
            </a:r>
            <a:endParaRPr lang="en-US" sz="7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84048" y="2770632"/>
            <a:ext cx="2377440" cy="18288"/>
          </a:xfrm>
          <a:prstGeom prst="rect">
            <a:avLst/>
          </a:prstGeom>
          <a:solidFill>
            <a:srgbClr val="0A52A8"/>
          </a:solidFill>
          <a:ln w="12700">
            <a:solidFill>
              <a:srgbClr val="0A52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65760" y="2907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01394" y="4164037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EF8"/>
                </a:solidFill>
              </a:rPr>
              <a:t>AI-Powered Case Strength Analysis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65760" y="3346704"/>
            <a:ext cx="182880" cy="182880"/>
          </a:xfrm>
          <a:prstGeom prst="ellipse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365760" y="33375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23E8A"/>
                </a:solidFill>
              </a:rPr>
              <a:t>✓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603504" y="331012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EF8"/>
                </a:solidFill>
              </a:rPr>
              <a:t>Similar Precedent Retrieval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65760" y="3776472"/>
            <a:ext cx="182880" cy="182880"/>
          </a:xfrm>
          <a:prstGeom prst="ellipse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365760" y="3767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23E8A"/>
                </a:solidFill>
              </a:rPr>
              <a:t>✓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03504" y="3739896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EF8"/>
                </a:solidFill>
              </a:rPr>
              <a:t>Evidence &amp; Documentation Checklist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65760" y="4206240"/>
            <a:ext cx="182880" cy="182880"/>
          </a:xfrm>
          <a:prstGeom prst="ellipse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365760" y="41970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23E8A"/>
                </a:solidFill>
              </a:rPr>
              <a:t>✓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365760" y="4636008"/>
            <a:ext cx="182880" cy="182880"/>
          </a:xfrm>
          <a:prstGeom prst="ellipse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365760" y="4626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23E8A"/>
                </a:solidFill>
              </a:rPr>
              <a:t>✓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03504" y="459943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072384" y="868680"/>
            <a:ext cx="2834640" cy="4160520"/>
          </a:xfrm>
          <a:prstGeom prst="rect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3118104" y="960120"/>
            <a:ext cx="2743200" cy="3977640"/>
          </a:xfrm>
          <a:prstGeom prst="rect">
            <a:avLst/>
          </a:prstGeom>
          <a:solidFill>
            <a:srgbClr val="0A3D6B"/>
          </a:solidFill>
          <a:ln w="12700">
            <a:solidFill>
              <a:srgbClr val="D4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3118104" y="960120"/>
            <a:ext cx="2743200" cy="64008"/>
          </a:xfrm>
          <a:prstGeom prst="rect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1104" y="1078992"/>
            <a:ext cx="457200" cy="45720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3118104" y="15819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D700"/>
                </a:solidFill>
              </a:rPr>
              <a:t>Lawyer Plan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3118104" y="18928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D700"/>
                </a:solidFill>
              </a:rPr>
              <a:t>₹999</a:t>
            </a:r>
            <a:endParaRPr lang="en-US" sz="2400" dirty="0"/>
          </a:p>
        </p:txBody>
      </p:sp>
      <p:sp>
        <p:nvSpPr>
          <p:cNvPr id="36" name="Text 32"/>
          <p:cNvSpPr/>
          <p:nvPr/>
        </p:nvSpPr>
        <p:spPr>
          <a:xfrm>
            <a:off x="3118104" y="22768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C8E0"/>
                </a:solidFill>
              </a:rPr>
              <a:t>per month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483864" y="2496312"/>
            <a:ext cx="2011680" cy="201168"/>
          </a:xfrm>
          <a:prstGeom prst="rect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4"/>
          <p:cNvSpPr/>
          <p:nvPr/>
        </p:nvSpPr>
        <p:spPr>
          <a:xfrm>
            <a:off x="3483864" y="24963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chemeClr val="bg2">
                    <a:lumMod val="10000"/>
                  </a:schemeClr>
                </a:solidFill>
              </a:rPr>
              <a:t>B2B  ·  Subscription</a:t>
            </a:r>
            <a:endParaRPr lang="en-US" sz="7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9" name="Shape 35"/>
          <p:cNvSpPr/>
          <p:nvPr/>
        </p:nvSpPr>
        <p:spPr>
          <a:xfrm>
            <a:off x="3300984" y="2770632"/>
            <a:ext cx="2377440" cy="18288"/>
          </a:xfrm>
          <a:prstGeom prst="rect">
            <a:avLst/>
          </a:prstGeom>
          <a:solidFill>
            <a:srgbClr val="0A52A8"/>
          </a:solidFill>
          <a:ln w="12700">
            <a:solidFill>
              <a:srgbClr val="0A52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7"/>
          <p:cNvSpPr/>
          <p:nvPr/>
        </p:nvSpPr>
        <p:spPr>
          <a:xfrm>
            <a:off x="3282696" y="2907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42" name="Text 38"/>
          <p:cNvSpPr/>
          <p:nvPr/>
        </p:nvSpPr>
        <p:spPr>
          <a:xfrm>
            <a:off x="3529331" y="3308721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EF8"/>
                </a:solidFill>
              </a:rPr>
              <a:t>Advanced Legal Research Assistance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3282696" y="3346704"/>
            <a:ext cx="182880" cy="182880"/>
          </a:xfrm>
          <a:prstGeom prst="ellipse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0"/>
          <p:cNvSpPr/>
          <p:nvPr/>
        </p:nvSpPr>
        <p:spPr>
          <a:xfrm>
            <a:off x="3282696" y="33375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23E8A"/>
                </a:solidFill>
              </a:rPr>
              <a:t>✓</a:t>
            </a:r>
            <a:endParaRPr lang="en-US" sz="700" dirty="0"/>
          </a:p>
        </p:txBody>
      </p:sp>
      <p:sp>
        <p:nvSpPr>
          <p:cNvPr id="46" name="Shape 42"/>
          <p:cNvSpPr/>
          <p:nvPr/>
        </p:nvSpPr>
        <p:spPr>
          <a:xfrm>
            <a:off x="3282696" y="3776472"/>
            <a:ext cx="182880" cy="182880"/>
          </a:xfrm>
          <a:prstGeom prst="ellipse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3"/>
          <p:cNvSpPr/>
          <p:nvPr/>
        </p:nvSpPr>
        <p:spPr>
          <a:xfrm>
            <a:off x="3282696" y="3767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23E8A"/>
                </a:solidFill>
              </a:rPr>
              <a:t>✓</a:t>
            </a:r>
            <a:endParaRPr lang="en-US" sz="700" dirty="0"/>
          </a:p>
        </p:txBody>
      </p:sp>
      <p:sp>
        <p:nvSpPr>
          <p:cNvPr id="48" name="Text 44"/>
          <p:cNvSpPr/>
          <p:nvPr/>
        </p:nvSpPr>
        <p:spPr>
          <a:xfrm>
            <a:off x="3522297" y="4164037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EF8"/>
                </a:solidFill>
              </a:rPr>
              <a:t>Intelligent Client Intake Dashboard</a:t>
            </a:r>
            <a:endParaRPr lang="en-US" sz="850" dirty="0"/>
          </a:p>
        </p:txBody>
      </p:sp>
      <p:sp>
        <p:nvSpPr>
          <p:cNvPr id="49" name="Shape 45"/>
          <p:cNvSpPr/>
          <p:nvPr/>
        </p:nvSpPr>
        <p:spPr>
          <a:xfrm>
            <a:off x="3282696" y="4206240"/>
            <a:ext cx="182880" cy="182880"/>
          </a:xfrm>
          <a:prstGeom prst="ellipse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6"/>
          <p:cNvSpPr/>
          <p:nvPr/>
        </p:nvSpPr>
        <p:spPr>
          <a:xfrm>
            <a:off x="3282696" y="41970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23E8A"/>
                </a:solidFill>
              </a:rPr>
              <a:t>✓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3520440" y="4570593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EF8"/>
                </a:solidFill>
              </a:rPr>
              <a:t>Precedent &amp; Risk Analysis Engine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3282696" y="4636008"/>
            <a:ext cx="182880" cy="182880"/>
          </a:xfrm>
          <a:prstGeom prst="ellipse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49"/>
          <p:cNvSpPr/>
          <p:nvPr/>
        </p:nvSpPr>
        <p:spPr>
          <a:xfrm>
            <a:off x="3282696" y="4626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23E8A"/>
                </a:solidFill>
              </a:rPr>
              <a:t>✓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3529331" y="3738489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D6EEF8"/>
                </a:solidFill>
              </a:rPr>
              <a:t>AI Courtroom Simulation</a:t>
            </a:r>
            <a:endParaRPr lang="en-US" sz="850" dirty="0"/>
          </a:p>
        </p:txBody>
      </p:sp>
      <p:sp>
        <p:nvSpPr>
          <p:cNvPr id="56" name="Shape 52"/>
          <p:cNvSpPr/>
          <p:nvPr/>
        </p:nvSpPr>
        <p:spPr>
          <a:xfrm>
            <a:off x="6035040" y="960120"/>
            <a:ext cx="274320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078992"/>
            <a:ext cx="457200" cy="457200"/>
          </a:xfrm>
          <a:prstGeom prst="rect">
            <a:avLst/>
          </a:prstGeom>
        </p:spPr>
      </p:pic>
      <p:sp>
        <p:nvSpPr>
          <p:cNvPr id="58" name="Text 53"/>
          <p:cNvSpPr/>
          <p:nvPr/>
        </p:nvSpPr>
        <p:spPr>
          <a:xfrm>
            <a:off x="6035040" y="15819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Law Firm / Institution Plan</a:t>
            </a:r>
            <a:endParaRPr lang="en-US" sz="1300" dirty="0"/>
          </a:p>
        </p:txBody>
      </p:sp>
      <p:sp>
        <p:nvSpPr>
          <p:cNvPr id="59" name="Text 54"/>
          <p:cNvSpPr/>
          <p:nvPr/>
        </p:nvSpPr>
        <p:spPr>
          <a:xfrm>
            <a:off x="6035040" y="18787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D700"/>
                </a:solidFill>
              </a:rPr>
              <a:t>₹4,999</a:t>
            </a:r>
            <a:endParaRPr lang="en-US" sz="2400" dirty="0"/>
          </a:p>
        </p:txBody>
      </p:sp>
      <p:sp>
        <p:nvSpPr>
          <p:cNvPr id="60" name="Text 55"/>
          <p:cNvSpPr/>
          <p:nvPr/>
        </p:nvSpPr>
        <p:spPr>
          <a:xfrm>
            <a:off x="6042074" y="22627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C8E0"/>
                </a:solidFill>
              </a:rPr>
              <a:t>per month</a:t>
            </a:r>
            <a:endParaRPr lang="en-US" sz="800" dirty="0"/>
          </a:p>
        </p:txBody>
      </p:sp>
      <p:sp>
        <p:nvSpPr>
          <p:cNvPr id="61" name="Shape 56"/>
          <p:cNvSpPr/>
          <p:nvPr/>
        </p:nvSpPr>
        <p:spPr>
          <a:xfrm>
            <a:off x="6400800" y="2496312"/>
            <a:ext cx="2011680" cy="2011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57"/>
          <p:cNvSpPr/>
          <p:nvPr/>
        </p:nvSpPr>
        <p:spPr>
          <a:xfrm>
            <a:off x="6400800" y="24963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b="1" dirty="0">
                <a:solidFill>
                  <a:schemeClr val="bg2">
                    <a:lumMod val="10000"/>
                  </a:schemeClr>
                </a:solidFill>
              </a:rPr>
              <a:t>B2G / Enterprise ·  Subscription</a:t>
            </a:r>
            <a:endParaRPr lang="en-US" sz="7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3" name="Shape 58"/>
          <p:cNvSpPr/>
          <p:nvPr/>
        </p:nvSpPr>
        <p:spPr>
          <a:xfrm>
            <a:off x="6217920" y="2770632"/>
            <a:ext cx="2377440" cy="18288"/>
          </a:xfrm>
          <a:prstGeom prst="rect">
            <a:avLst/>
          </a:prstGeom>
          <a:solidFill>
            <a:srgbClr val="0A52A8"/>
          </a:solidFill>
          <a:ln w="12700">
            <a:solidFill>
              <a:srgbClr val="0A52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0"/>
          <p:cNvSpPr/>
          <p:nvPr/>
        </p:nvSpPr>
        <p:spPr>
          <a:xfrm>
            <a:off x="6199632" y="2907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66" name="Text 61"/>
          <p:cNvSpPr/>
          <p:nvPr/>
        </p:nvSpPr>
        <p:spPr>
          <a:xfrm>
            <a:off x="6448630" y="3731455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EF8"/>
                </a:solidFill>
              </a:rPr>
              <a:t>Multi-Client Case Management</a:t>
            </a:r>
            <a:endParaRPr lang="en-US" sz="850" dirty="0"/>
          </a:p>
        </p:txBody>
      </p:sp>
      <p:sp>
        <p:nvSpPr>
          <p:cNvPr id="67" name="Shape 62"/>
          <p:cNvSpPr/>
          <p:nvPr/>
        </p:nvSpPr>
        <p:spPr>
          <a:xfrm>
            <a:off x="6199632" y="3346704"/>
            <a:ext cx="182880" cy="182880"/>
          </a:xfrm>
          <a:prstGeom prst="ellipse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3"/>
          <p:cNvSpPr/>
          <p:nvPr/>
        </p:nvSpPr>
        <p:spPr>
          <a:xfrm>
            <a:off x="6199632" y="33375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23E8A"/>
                </a:solidFill>
              </a:rPr>
              <a:t>✓</a:t>
            </a:r>
            <a:endParaRPr lang="en-US" sz="700" dirty="0"/>
          </a:p>
        </p:txBody>
      </p:sp>
      <p:sp>
        <p:nvSpPr>
          <p:cNvPr id="69" name="Text 64"/>
          <p:cNvSpPr/>
          <p:nvPr/>
        </p:nvSpPr>
        <p:spPr>
          <a:xfrm>
            <a:off x="6437376" y="331012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EF8"/>
                </a:solidFill>
              </a:rPr>
              <a:t>Team Collaboration Workspace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6199632" y="3776472"/>
            <a:ext cx="182880" cy="182880"/>
          </a:xfrm>
          <a:prstGeom prst="ellipse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6"/>
          <p:cNvSpPr/>
          <p:nvPr/>
        </p:nvSpPr>
        <p:spPr>
          <a:xfrm>
            <a:off x="6199632" y="3767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23E8A"/>
                </a:solidFill>
              </a:rPr>
              <a:t>✓</a:t>
            </a:r>
            <a:endParaRPr lang="en-US" sz="700" dirty="0"/>
          </a:p>
        </p:txBody>
      </p:sp>
      <p:sp>
        <p:nvSpPr>
          <p:cNvPr id="73" name="Shape 68"/>
          <p:cNvSpPr/>
          <p:nvPr/>
        </p:nvSpPr>
        <p:spPr>
          <a:xfrm>
            <a:off x="6199632" y="4206240"/>
            <a:ext cx="182880" cy="182880"/>
          </a:xfrm>
          <a:prstGeom prst="ellipse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69"/>
          <p:cNvSpPr/>
          <p:nvPr/>
        </p:nvSpPr>
        <p:spPr>
          <a:xfrm>
            <a:off x="6199632" y="41970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23E8A"/>
                </a:solidFill>
              </a:rPr>
              <a:t>✓</a:t>
            </a:r>
            <a:endParaRPr lang="en-US" sz="700" dirty="0"/>
          </a:p>
        </p:txBody>
      </p:sp>
      <p:sp>
        <p:nvSpPr>
          <p:cNvPr id="75" name="Text 70"/>
          <p:cNvSpPr/>
          <p:nvPr/>
        </p:nvSpPr>
        <p:spPr>
          <a:xfrm>
            <a:off x="6437376" y="416966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850" dirty="0" err="1">
                <a:solidFill>
                  <a:srgbClr val="D6EEF8"/>
                </a:solidFill>
              </a:rPr>
              <a:t>VerdictAI</a:t>
            </a:r>
            <a:r>
              <a:rPr lang="en-GB" sz="850" dirty="0">
                <a:solidFill>
                  <a:srgbClr val="D6EEF8"/>
                </a:solidFill>
              </a:rPr>
              <a:t> Deployable as a Custom Legal-Tech Platform</a:t>
            </a:r>
            <a:endParaRPr lang="en-US" sz="850" dirty="0">
              <a:solidFill>
                <a:srgbClr val="D6EEF8"/>
              </a:solidFill>
            </a:endParaRPr>
          </a:p>
        </p:txBody>
      </p:sp>
      <p:sp>
        <p:nvSpPr>
          <p:cNvPr id="76" name="Shape 71"/>
          <p:cNvSpPr/>
          <p:nvPr/>
        </p:nvSpPr>
        <p:spPr>
          <a:xfrm>
            <a:off x="6199632" y="4636008"/>
            <a:ext cx="182880" cy="182880"/>
          </a:xfrm>
          <a:prstGeom prst="ellipse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2"/>
          <p:cNvSpPr/>
          <p:nvPr/>
        </p:nvSpPr>
        <p:spPr>
          <a:xfrm>
            <a:off x="6199632" y="4626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23E8A"/>
                </a:solidFill>
              </a:rPr>
              <a:t>✓</a:t>
            </a:r>
            <a:endParaRPr lang="en-US" sz="700" dirty="0"/>
          </a:p>
        </p:txBody>
      </p:sp>
      <p:sp>
        <p:nvSpPr>
          <p:cNvPr id="78" name="Text 73"/>
          <p:cNvSpPr/>
          <p:nvPr/>
        </p:nvSpPr>
        <p:spPr>
          <a:xfrm>
            <a:off x="6437376" y="458536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EF8"/>
                </a:solidFill>
              </a:rPr>
              <a:t>Dedicated Enterprise Support</a:t>
            </a:r>
            <a:endParaRPr lang="en-US" sz="850" dirty="0"/>
          </a:p>
        </p:txBody>
      </p:sp>
      <p:sp>
        <p:nvSpPr>
          <p:cNvPr id="79" name="Text 74"/>
          <p:cNvSpPr/>
          <p:nvPr/>
        </p:nvSpPr>
        <p:spPr>
          <a:xfrm>
            <a:off x="228600" y="48188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83" name="Rectangle 4">
            <a:extLst>
              <a:ext uri="{FF2B5EF4-FFF2-40B4-BE49-F238E27FC236}">
                <a16:creationId xmlns:a16="http://schemas.microsoft.com/office/drawing/2014/main" id="{6A74B6BB-6E6D-42E4-65F5-3E13BF1E9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788" y="4331143"/>
            <a:ext cx="1981633" cy="777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850" dirty="0">
                <a:solidFill>
                  <a:srgbClr val="D6EEF8"/>
                </a:solidFill>
              </a:rPr>
              <a:t>Downloadable Legal Summary Reports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72556F7-0C41-31BF-C4B6-64720F5340F5}"/>
              </a:ext>
            </a:extLst>
          </p:cNvPr>
          <p:cNvSpPr txBox="1"/>
          <p:nvPr/>
        </p:nvSpPr>
        <p:spPr>
          <a:xfrm>
            <a:off x="3319272" y="2772604"/>
            <a:ext cx="2304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bg1"/>
                </a:solidFill>
              </a:rPr>
              <a:t>Built for independent advocates and legal professionals requiring faster research, precedent analysis, and case preparation workflows.</a:t>
            </a:r>
            <a:endParaRPr lang="en-IN" sz="800" dirty="0">
              <a:solidFill>
                <a:schemeClr val="bg1"/>
              </a:solidFill>
            </a:endParaRPr>
          </a:p>
        </p:txBody>
      </p:sp>
      <p:sp>
        <p:nvSpPr>
          <p:cNvPr id="85" name="Shape 35">
            <a:extLst>
              <a:ext uri="{FF2B5EF4-FFF2-40B4-BE49-F238E27FC236}">
                <a16:creationId xmlns:a16="http://schemas.microsoft.com/office/drawing/2014/main" id="{57ACFBDB-B384-C7FC-4A47-22CBB9F6ECB1}"/>
              </a:ext>
            </a:extLst>
          </p:cNvPr>
          <p:cNvSpPr/>
          <p:nvPr/>
        </p:nvSpPr>
        <p:spPr>
          <a:xfrm>
            <a:off x="3319272" y="3251748"/>
            <a:ext cx="2377440" cy="18288"/>
          </a:xfrm>
          <a:prstGeom prst="rect">
            <a:avLst/>
          </a:prstGeom>
          <a:solidFill>
            <a:srgbClr val="0A52A8"/>
          </a:solidFill>
          <a:ln w="12700">
            <a:solidFill>
              <a:srgbClr val="0A52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35">
            <a:extLst>
              <a:ext uri="{FF2B5EF4-FFF2-40B4-BE49-F238E27FC236}">
                <a16:creationId xmlns:a16="http://schemas.microsoft.com/office/drawing/2014/main" id="{8FB0B959-32A5-2997-3021-1FCD6D329A3C}"/>
              </a:ext>
            </a:extLst>
          </p:cNvPr>
          <p:cNvSpPr/>
          <p:nvPr/>
        </p:nvSpPr>
        <p:spPr>
          <a:xfrm>
            <a:off x="6217920" y="3233108"/>
            <a:ext cx="2377440" cy="18288"/>
          </a:xfrm>
          <a:prstGeom prst="rect">
            <a:avLst/>
          </a:prstGeom>
          <a:solidFill>
            <a:srgbClr val="0A52A8"/>
          </a:solidFill>
          <a:ln w="12700">
            <a:solidFill>
              <a:srgbClr val="0A52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Shape 35">
            <a:extLst>
              <a:ext uri="{FF2B5EF4-FFF2-40B4-BE49-F238E27FC236}">
                <a16:creationId xmlns:a16="http://schemas.microsoft.com/office/drawing/2014/main" id="{E7A13B9A-B3CA-A7FF-B053-98413877A00B}"/>
              </a:ext>
            </a:extLst>
          </p:cNvPr>
          <p:cNvSpPr/>
          <p:nvPr/>
        </p:nvSpPr>
        <p:spPr>
          <a:xfrm>
            <a:off x="402463" y="3276665"/>
            <a:ext cx="2377440" cy="18288"/>
          </a:xfrm>
          <a:prstGeom prst="rect">
            <a:avLst/>
          </a:prstGeom>
          <a:solidFill>
            <a:srgbClr val="0A52A8"/>
          </a:solidFill>
          <a:ln w="12700">
            <a:solidFill>
              <a:srgbClr val="0A52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CED30E4-D260-6C5F-4F0A-E38751B7F9FB}"/>
              </a:ext>
            </a:extLst>
          </p:cNvPr>
          <p:cNvSpPr txBox="1"/>
          <p:nvPr/>
        </p:nvSpPr>
        <p:spPr>
          <a:xfrm>
            <a:off x="449462" y="2790083"/>
            <a:ext cx="2249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bg1"/>
                </a:solidFill>
              </a:rPr>
              <a:t>Designed for individuals seeking accessible AI-powered legal guidance, dispute analysis, and litigation preparedness tools.</a:t>
            </a:r>
            <a:endParaRPr lang="en-IN" sz="800" dirty="0">
              <a:solidFill>
                <a:schemeClr val="bg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63D39ED-F1EB-1D07-61A4-2FBA2ED0995C}"/>
              </a:ext>
            </a:extLst>
          </p:cNvPr>
          <p:cNvSpPr txBox="1"/>
          <p:nvPr/>
        </p:nvSpPr>
        <p:spPr>
          <a:xfrm>
            <a:off x="6291072" y="2781180"/>
            <a:ext cx="22126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bg1"/>
                </a:solidFill>
              </a:rPr>
              <a:t>Tailored for law firms, legal aid organizations, and institutions managing large-scale collaborative legal operations and analytics.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3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0"/>
          <p:cNvSpPr/>
          <p:nvPr/>
        </p:nvSpPr>
        <p:spPr>
          <a:xfrm>
            <a:off x="3172968" y="3145536"/>
            <a:ext cx="2743200" cy="1389888"/>
          </a:xfrm>
          <a:prstGeom prst="rect">
            <a:avLst/>
          </a:prstGeom>
          <a:solidFill>
            <a:srgbClr val="012D6B"/>
          </a:solidFill>
          <a:ln w="12700">
            <a:solidFill>
              <a:srgbClr val="0A52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214884" y="545004"/>
            <a:ext cx="8714232" cy="84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VerdictAI Wins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01168" y="1572768"/>
            <a:ext cx="2743200" cy="1389888"/>
          </a:xfrm>
          <a:prstGeom prst="rect">
            <a:avLst/>
          </a:prstGeom>
          <a:solidFill>
            <a:srgbClr val="012D6B"/>
          </a:solidFill>
          <a:ln w="12700">
            <a:solidFill>
              <a:srgbClr val="0A52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sz="1400" dirty="0"/>
          </a:p>
        </p:txBody>
      </p:sp>
      <p:sp>
        <p:nvSpPr>
          <p:cNvPr id="7" name="Shape 5"/>
          <p:cNvSpPr/>
          <p:nvPr/>
        </p:nvSpPr>
        <p:spPr>
          <a:xfrm>
            <a:off x="201168" y="1572768"/>
            <a:ext cx="2743200" cy="54864"/>
          </a:xfrm>
          <a:prstGeom prst="rect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378" y="3232729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63798" y="7033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38328" y="216712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72968" y="1572768"/>
            <a:ext cx="2743200" cy="1389888"/>
          </a:xfrm>
          <a:prstGeom prst="rect">
            <a:avLst/>
          </a:prstGeom>
          <a:solidFill>
            <a:srgbClr val="012D6B"/>
          </a:solidFill>
          <a:ln w="12700">
            <a:solidFill>
              <a:srgbClr val="0A52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172968" y="1572768"/>
            <a:ext cx="2743200" cy="54864"/>
          </a:xfrm>
          <a:prstGeom prst="rect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6976872" y="6400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10128" y="216712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44768" y="1572768"/>
            <a:ext cx="2743200" cy="1389888"/>
          </a:xfrm>
          <a:prstGeom prst="rect">
            <a:avLst/>
          </a:prstGeom>
          <a:solidFill>
            <a:srgbClr val="012D6B"/>
          </a:solidFill>
          <a:ln w="12700">
            <a:solidFill>
              <a:srgbClr val="0A52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144768" y="1572768"/>
            <a:ext cx="2743200" cy="54864"/>
          </a:xfrm>
          <a:prstGeom prst="rect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709928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48272" y="195681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b="1" dirty="0">
                <a:solidFill>
                  <a:srgbClr val="D4D700"/>
                </a:solidFill>
              </a:rPr>
              <a:t>Practicality</a:t>
            </a:r>
          </a:p>
          <a:p>
            <a:br>
              <a:rPr lang="en-IN" sz="1400" dirty="0"/>
            </a:b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81928" y="216712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201168" y="3145536"/>
            <a:ext cx="2743200" cy="1389888"/>
          </a:xfrm>
          <a:prstGeom prst="rect">
            <a:avLst/>
          </a:prstGeom>
          <a:solidFill>
            <a:srgbClr val="012D6B"/>
          </a:solidFill>
          <a:ln w="12700">
            <a:solidFill>
              <a:srgbClr val="0A52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201168" y="3145536"/>
            <a:ext cx="2743200" cy="54864"/>
          </a:xfrm>
          <a:prstGeom prst="rect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294" y="3282696"/>
            <a:ext cx="334081" cy="33408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4672" y="328269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D700"/>
                </a:solidFill>
              </a:rPr>
              <a:t>Scalability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338328" y="36273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950" dirty="0">
                <a:solidFill>
                  <a:srgbClr val="D6EEF8"/>
                </a:solidFill>
              </a:rPr>
              <a:t>Supports multiple user segments: citizens, lawyers, firms, and institutions.</a:t>
            </a:r>
          </a:p>
          <a:p>
            <a:endParaRPr lang="en-GB" sz="950" dirty="0">
              <a:solidFill>
                <a:srgbClr val="D6EEF8"/>
              </a:solidFill>
            </a:endParaRPr>
          </a:p>
          <a:p>
            <a:r>
              <a:rPr lang="en-GB" sz="950" dirty="0">
                <a:solidFill>
                  <a:srgbClr val="D6EEF8"/>
                </a:solidFill>
              </a:rPr>
              <a:t>Can scale through SaaS, API integrations, and multilingual deployment across regions.</a:t>
            </a:r>
          </a:p>
        </p:txBody>
      </p:sp>
      <p:sp>
        <p:nvSpPr>
          <p:cNvPr id="27" name="Shape 21"/>
          <p:cNvSpPr/>
          <p:nvPr/>
        </p:nvSpPr>
        <p:spPr>
          <a:xfrm>
            <a:off x="3172968" y="3145536"/>
            <a:ext cx="2743200" cy="54864"/>
          </a:xfrm>
          <a:prstGeom prst="rect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034" y="1652835"/>
            <a:ext cx="273878" cy="27387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743062" y="3239887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D4D700"/>
                </a:solidFill>
              </a:rPr>
              <a:t>Impact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3296412" y="3643069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950" dirty="0">
                <a:solidFill>
                  <a:schemeClr val="bg1"/>
                </a:solidFill>
              </a:rPr>
              <a:t>Expands access to legal awareness for underserved and low-literacy populations at scale.</a:t>
            </a:r>
          </a:p>
          <a:p>
            <a:endParaRPr lang="en-GB" sz="950" dirty="0">
              <a:solidFill>
                <a:schemeClr val="bg1"/>
              </a:solidFill>
            </a:endParaRPr>
          </a:p>
          <a:p>
            <a:r>
              <a:rPr lang="en-GB" sz="950" dirty="0">
                <a:solidFill>
                  <a:schemeClr val="bg1"/>
                </a:solidFill>
              </a:rPr>
              <a:t>Reduces wasted time, cost, and effort by filtering weak or misdirected cases early.</a:t>
            </a:r>
          </a:p>
          <a:p>
            <a:r>
              <a:rPr lang="en-GB" sz="950" dirty="0">
                <a:solidFill>
                  <a:schemeClr val="bg1"/>
                </a:solidFill>
              </a:rPr>
              <a:t>Practicality</a:t>
            </a:r>
          </a:p>
        </p:txBody>
      </p:sp>
      <p:sp>
        <p:nvSpPr>
          <p:cNvPr id="31" name="Shape 24"/>
          <p:cNvSpPr/>
          <p:nvPr/>
        </p:nvSpPr>
        <p:spPr>
          <a:xfrm>
            <a:off x="201168" y="4645152"/>
            <a:ext cx="8741664" cy="347472"/>
          </a:xfrm>
          <a:prstGeom prst="rect">
            <a:avLst/>
          </a:prstGeom>
          <a:solidFill>
            <a:srgbClr val="0A52A8"/>
          </a:solidFill>
          <a:ln w="12700">
            <a:solidFill>
              <a:srgbClr val="0A52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5"/>
          <p:cNvSpPr/>
          <p:nvPr/>
        </p:nvSpPr>
        <p:spPr>
          <a:xfrm>
            <a:off x="201168" y="4645152"/>
            <a:ext cx="8741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D4D700"/>
                </a:solidFill>
              </a:rPr>
              <a:t>Democratizing Legal Clarity for Every Indian  ·  Built at Hackathon 2025</a:t>
            </a:r>
            <a:endParaRPr lang="en-US" sz="900" dirty="0"/>
          </a:p>
        </p:txBody>
      </p:sp>
      <p:sp>
        <p:nvSpPr>
          <p:cNvPr id="33" name="Shape 20">
            <a:extLst>
              <a:ext uri="{FF2B5EF4-FFF2-40B4-BE49-F238E27FC236}">
                <a16:creationId xmlns:a16="http://schemas.microsoft.com/office/drawing/2014/main" id="{E13E3049-B236-1383-D2C5-95ACF781F7A3}"/>
              </a:ext>
            </a:extLst>
          </p:cNvPr>
          <p:cNvSpPr/>
          <p:nvPr/>
        </p:nvSpPr>
        <p:spPr>
          <a:xfrm>
            <a:off x="6144768" y="3139206"/>
            <a:ext cx="2743200" cy="1389888"/>
          </a:xfrm>
          <a:prstGeom prst="rect">
            <a:avLst/>
          </a:prstGeom>
          <a:solidFill>
            <a:srgbClr val="012D6B"/>
          </a:solidFill>
          <a:ln w="12700">
            <a:solidFill>
              <a:srgbClr val="0A52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1">
            <a:extLst>
              <a:ext uri="{FF2B5EF4-FFF2-40B4-BE49-F238E27FC236}">
                <a16:creationId xmlns:a16="http://schemas.microsoft.com/office/drawing/2014/main" id="{7A254B31-93BE-6FB6-7339-F1D555ED1984}"/>
              </a:ext>
            </a:extLst>
          </p:cNvPr>
          <p:cNvSpPr/>
          <p:nvPr/>
        </p:nvSpPr>
        <p:spPr>
          <a:xfrm>
            <a:off x="6151802" y="3134751"/>
            <a:ext cx="2743200" cy="54864"/>
          </a:xfrm>
          <a:prstGeom prst="rect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C19918-796F-4DD9-A227-66AE73DEC1FF}"/>
              </a:ext>
            </a:extLst>
          </p:cNvPr>
          <p:cNvSpPr txBox="1"/>
          <p:nvPr/>
        </p:nvSpPr>
        <p:spPr>
          <a:xfrm>
            <a:off x="600338" y="1683958"/>
            <a:ext cx="2578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D4D700"/>
                </a:solidFill>
              </a:rPr>
              <a:t>Proposed Solution</a:t>
            </a:r>
          </a:p>
          <a:p>
            <a:br>
              <a:rPr lang="en-IN" sz="1400" b="1" dirty="0">
                <a:solidFill>
                  <a:srgbClr val="D4D700"/>
                </a:solidFill>
              </a:rPr>
            </a:br>
            <a:endParaRPr lang="en-IN" sz="1400" b="1" dirty="0">
              <a:solidFill>
                <a:srgbClr val="D4D7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48085A-C04B-5A0B-73A3-9844559A1C17}"/>
              </a:ext>
            </a:extLst>
          </p:cNvPr>
          <p:cNvSpPr txBox="1"/>
          <p:nvPr/>
        </p:nvSpPr>
        <p:spPr>
          <a:xfrm>
            <a:off x="338328" y="1982985"/>
            <a:ext cx="252374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50" dirty="0">
                <a:solidFill>
                  <a:srgbClr val="D6EEF8"/>
                </a:solidFill>
              </a:rPr>
              <a:t>AI-powered legal triage platform that evaluates case strength using precedent-backed analysis.</a:t>
            </a:r>
          </a:p>
          <a:p>
            <a:endParaRPr lang="en-GB" sz="950" dirty="0">
              <a:solidFill>
                <a:srgbClr val="D6EEF8"/>
              </a:solidFill>
            </a:endParaRPr>
          </a:p>
          <a:p>
            <a:r>
              <a:rPr lang="en-GB" sz="950" dirty="0">
                <a:solidFill>
                  <a:srgbClr val="D6EEF8"/>
                </a:solidFill>
              </a:rPr>
              <a:t>Converts complex legal problems into simple, actionable next steps for citizens and professionals.</a:t>
            </a:r>
          </a:p>
          <a:p>
            <a:endParaRPr lang="en-IN" dirty="0"/>
          </a:p>
        </p:txBody>
      </p:sp>
      <p:pic>
        <p:nvPicPr>
          <p:cNvPr id="2050" name="Picture 2" descr="Free Yellow Check Mark Png, Download Free Yellow Check Mark Png png images,  Free ClipArts on Clipart Library">
            <a:extLst>
              <a:ext uri="{FF2B5EF4-FFF2-40B4-BE49-F238E27FC236}">
                <a16:creationId xmlns:a16="http://schemas.microsoft.com/office/drawing/2014/main" id="{B780ED9B-AE88-B7FD-D300-39FED93DF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295" y="1731761"/>
            <a:ext cx="232089" cy="232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2C6A671-1D6B-93BD-3519-CADA4FB96B10}"/>
              </a:ext>
            </a:extLst>
          </p:cNvPr>
          <p:cNvSpPr txBox="1"/>
          <p:nvPr/>
        </p:nvSpPr>
        <p:spPr>
          <a:xfrm>
            <a:off x="3466632" y="1590379"/>
            <a:ext cx="226067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D4D700"/>
                </a:solidFill>
              </a:rPr>
              <a:t>Legal Guidance Without the Wait</a:t>
            </a:r>
          </a:p>
          <a:p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B2C6D2-ABB6-3366-694B-14F01952F344}"/>
              </a:ext>
            </a:extLst>
          </p:cNvPr>
          <p:cNvSpPr txBox="1"/>
          <p:nvPr/>
        </p:nvSpPr>
        <p:spPr>
          <a:xfrm>
            <a:off x="3255264" y="2019559"/>
            <a:ext cx="246888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50" dirty="0">
                <a:solidFill>
                  <a:srgbClr val="D6EEF8"/>
                </a:solidFill>
              </a:rPr>
              <a:t>Delivers instant, consistent, and bias-reduced preliminary assessment without delays or fatigue.</a:t>
            </a:r>
          </a:p>
          <a:p>
            <a:endParaRPr lang="en-GB" sz="950" dirty="0">
              <a:solidFill>
                <a:srgbClr val="D6EEF8"/>
              </a:solidFill>
            </a:endParaRPr>
          </a:p>
          <a:p>
            <a:r>
              <a:rPr lang="en-GB" sz="950" dirty="0">
                <a:solidFill>
                  <a:srgbClr val="D6EEF8"/>
                </a:solidFill>
              </a:rPr>
              <a:t>Augments lawyers by saving research time and surfacing relevant precedents in seconds.</a:t>
            </a:r>
          </a:p>
          <a:p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58E7416-8AC6-0279-2F30-E515BBD7E596}"/>
              </a:ext>
            </a:extLst>
          </p:cNvPr>
          <p:cNvSpPr txBox="1"/>
          <p:nvPr/>
        </p:nvSpPr>
        <p:spPr>
          <a:xfrm>
            <a:off x="6260826" y="2095382"/>
            <a:ext cx="2523744" cy="110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50" dirty="0">
                <a:solidFill>
                  <a:srgbClr val="D6EEF8"/>
                </a:solidFill>
              </a:rPr>
              <a:t>Built as an MVP on real legal precedents, structured workflows, and reproducible logic.</a:t>
            </a:r>
          </a:p>
          <a:p>
            <a:endParaRPr lang="en-GB" sz="950" dirty="0">
              <a:solidFill>
                <a:srgbClr val="D6EEF8"/>
              </a:solidFill>
            </a:endParaRPr>
          </a:p>
          <a:p>
            <a:r>
              <a:rPr lang="en-GB" sz="950" dirty="0">
                <a:solidFill>
                  <a:srgbClr val="D6EEF8"/>
                </a:solidFill>
              </a:rPr>
              <a:t>Can be deployed as a citizen-facing tool and a professional assistant with minimal adaptation.</a:t>
            </a:r>
          </a:p>
          <a:p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D96A89-AE51-554E-D6C9-E8F23D4DFBB8}"/>
              </a:ext>
            </a:extLst>
          </p:cNvPr>
          <p:cNvSpPr txBox="1"/>
          <p:nvPr/>
        </p:nvSpPr>
        <p:spPr>
          <a:xfrm>
            <a:off x="6684616" y="3188351"/>
            <a:ext cx="24189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D4D700"/>
                </a:solidFill>
              </a:rPr>
              <a:t>Innovation</a:t>
            </a:r>
          </a:p>
          <a:p>
            <a:endParaRPr lang="en-IN" dirty="0"/>
          </a:p>
        </p:txBody>
      </p:sp>
      <p:sp>
        <p:nvSpPr>
          <p:cNvPr id="41" name="AutoShape 4" descr="Yellow Brain PNG Images - CleanPNG">
            <a:extLst>
              <a:ext uri="{FF2B5EF4-FFF2-40B4-BE49-F238E27FC236}">
                <a16:creationId xmlns:a16="http://schemas.microsoft.com/office/drawing/2014/main" id="{65FF9C6A-E07A-47EB-D411-871896A5C0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" name="AutoShape 6" descr="Yellow Brain PNG Images - CleanPNG">
            <a:extLst>
              <a:ext uri="{FF2B5EF4-FFF2-40B4-BE49-F238E27FC236}">
                <a16:creationId xmlns:a16="http://schemas.microsoft.com/office/drawing/2014/main" id="{103B6CD7-5270-CCC3-746F-2DFF52EBBE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" name="AutoShape 8" descr="Yellow Brain PNG Images - CleanPNG">
            <a:extLst>
              <a:ext uri="{FF2B5EF4-FFF2-40B4-BE49-F238E27FC236}">
                <a16:creationId xmlns:a16="http://schemas.microsoft.com/office/drawing/2014/main" id="{996A3E8F-A72B-4BDA-3D4A-618E88E3C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23402" y="74066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" name="AutoShape 10" descr="Yellow Brain PNG Images - CleanPNG">
            <a:extLst>
              <a:ext uri="{FF2B5EF4-FFF2-40B4-BE49-F238E27FC236}">
                <a16:creationId xmlns:a16="http://schemas.microsoft.com/office/drawing/2014/main" id="{7B850546-87E4-0BBA-348F-C1389932E9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76872" y="74066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" name="AutoShape 20" descr="Brain Inside A Lightbulb Symbolizing Bright Idea, Brain Clipart, Lightbulb  Clipart, Idea PNG Transparent Image and Clipart for Free Download">
            <a:extLst>
              <a:ext uri="{FF2B5EF4-FFF2-40B4-BE49-F238E27FC236}">
                <a16:creationId xmlns:a16="http://schemas.microsoft.com/office/drawing/2014/main" id="{A87A4C2D-D790-8AE6-4EE9-FEC74CD5A0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7241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6" name="Image 1" descr="preencoded.png">
            <a:extLst>
              <a:ext uri="{FF2B5EF4-FFF2-40B4-BE49-F238E27FC236}">
                <a16:creationId xmlns:a16="http://schemas.microsoft.com/office/drawing/2014/main" id="{009B8AAB-6359-B530-F4A7-7BB6B94EA8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8504" y="3171424"/>
            <a:ext cx="384048" cy="384048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836AB950-3A93-1503-C5BE-107F3186A438}"/>
              </a:ext>
            </a:extLst>
          </p:cNvPr>
          <p:cNvSpPr txBox="1"/>
          <p:nvPr/>
        </p:nvSpPr>
        <p:spPr>
          <a:xfrm>
            <a:off x="6221086" y="3489012"/>
            <a:ext cx="2763246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50" dirty="0">
                <a:solidFill>
                  <a:schemeClr val="bg1"/>
                </a:solidFill>
              </a:rPr>
              <a:t>Combines case-strength scoring, precedent matching, and courtroom-style simulation in one system.</a:t>
            </a:r>
          </a:p>
          <a:p>
            <a:endParaRPr lang="en-GB" sz="950" dirty="0">
              <a:solidFill>
                <a:schemeClr val="bg1"/>
              </a:solidFill>
            </a:endParaRPr>
          </a:p>
          <a:p>
            <a:r>
              <a:rPr lang="en-GB" sz="950" dirty="0">
                <a:solidFill>
                  <a:schemeClr val="bg1"/>
                </a:solidFill>
              </a:rPr>
              <a:t>Introduces explainable legal AI, where users can see why a recommendation was generated.</a:t>
            </a:r>
          </a:p>
          <a:p>
            <a:endParaRPr lang="en-IN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3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7432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8" name="Shape 5"/>
          <p:cNvSpPr/>
          <p:nvPr/>
        </p:nvSpPr>
        <p:spPr>
          <a:xfrm>
            <a:off x="2926080" y="2103120"/>
            <a:ext cx="3291840" cy="36576"/>
          </a:xfrm>
          <a:prstGeom prst="rect">
            <a:avLst/>
          </a:prstGeom>
          <a:solidFill>
            <a:srgbClr val="D4D700"/>
          </a:solidFill>
          <a:ln w="12700">
            <a:solidFill>
              <a:srgbClr val="D4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57200" y="22677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D700"/>
                </a:solidFill>
              </a:rPr>
              <a:t>Empowering People. Solving Real Problems.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2816352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EF8"/>
                </a:solidFill>
              </a:rPr>
              <a:t>We built VerdictAI because every person deserves to understand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6EEF8"/>
                </a:solidFill>
              </a:rPr>
              <a:t>their legal standing — regardless of background, income, or education.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6EEF8"/>
                </a:solidFill>
              </a:rPr>
              <a:t>Our mission is to make legal clarity accessible, actionable, and human.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kern="0" spc="100" dirty="0">
                <a:solidFill>
                  <a:srgbClr val="90C8E0"/>
                </a:solidFill>
              </a:rPr>
              <a:t>Democratizing Legal Clarity for Every Indian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563</Words>
  <Application>Microsoft Office PowerPoint</Application>
  <PresentationFormat>On-screen Show (16:9)</PresentationFormat>
  <Paragraphs>131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VerdictAI</dc:title>
  <dc:subject>PptxGenJS Presentation</dc:subject>
  <dc:creator>PptxGenJS</dc:creator>
  <cp:lastModifiedBy>Rohan Kumar</cp:lastModifiedBy>
  <cp:revision>13</cp:revision>
  <dcterms:created xsi:type="dcterms:W3CDTF">2026-05-15T02:19:51Z</dcterms:created>
  <dcterms:modified xsi:type="dcterms:W3CDTF">2026-05-15T04:14:53Z</dcterms:modified>
</cp:coreProperties>
</file>