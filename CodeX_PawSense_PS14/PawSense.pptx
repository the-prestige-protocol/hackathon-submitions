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embeddedFontLst>
    <p:embeddedFont>
      <p:font typeface="Alice"/>
      <p:regular r:id="rId16"/>
    </p:embeddedFont>
    <p:embeddedFont>
      <p:font typeface="Alice"/>
      <p:regular r:id="rId17"/>
    </p:embeddedFont>
    <p:embeddedFont>
      <p:font typeface="Lora"/>
      <p:regular r:id="rId18"/>
    </p:embeddedFont>
    <p:embeddedFont>
      <p:font typeface="Lora"/>
      <p:regular r:id="rId19"/>
    </p:embeddedFont>
    <p:embeddedFont>
      <p:font typeface="Lora"/>
      <p:regular r:id="rId20"/>
    </p:embeddedFont>
    <p:embeddedFont>
      <p:font typeface="Lora"/>
      <p:regular r:id="rId21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font" Target="fonts/font1.fntdata"/><Relationship Id="rId17" Type="http://schemas.openxmlformats.org/officeDocument/2006/relationships/font" Target="fonts/font2.fntdata"/><Relationship Id="rId18" Type="http://schemas.openxmlformats.org/officeDocument/2006/relationships/font" Target="fonts/font3.fntdata"/><Relationship Id="rId19" Type="http://schemas.openxmlformats.org/officeDocument/2006/relationships/font" Target="fonts/font4.fntdata"/><Relationship Id="rId20" Type="http://schemas.openxmlformats.org/officeDocument/2006/relationships/font" Target="fonts/font5.fntdata"/><Relationship Id="rId21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CFBF8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CFBF8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CFBF8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CFBF8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CFBF8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CFBF8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CFBF8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CFBF8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CFBF8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image" Target="../media/image-3-4.png"/><Relationship Id="rId5" Type="http://schemas.openxmlformats.org/officeDocument/2006/relationships/image" Target="../media/image-3-5.svg"/><Relationship Id="rId6" Type="http://schemas.openxmlformats.org/officeDocument/2006/relationships/image" Target="../media/image-3-6.png"/><Relationship Id="rId7" Type="http://schemas.openxmlformats.org/officeDocument/2006/relationships/image" Target="../media/image-3-7.svg"/><Relationship Id="rId8" Type="http://schemas.openxmlformats.org/officeDocument/2006/relationships/image" Target="../media/image-3-8.png"/><Relationship Id="rId9" Type="http://schemas.openxmlformats.org/officeDocument/2006/relationships/image" Target="../media/image-3-9.svg"/><Relationship Id="rId10" Type="http://schemas.openxmlformats.org/officeDocument/2006/relationships/slideLayout" Target="../slideLayouts/slideLayout4.xml"/><Relationship Id="rId1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7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8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29000" cy="5143500"/>
          </a:xfrm>
          <a:prstGeom prst="rect">
            <a:avLst/>
          </a:prstGeom>
          <a:solidFill>
            <a:srgbClr val="F0EDE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42" y="380181"/>
            <a:ext cx="3287241" cy="438306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925119" y="1690762"/>
            <a:ext cx="35441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7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PawSense</a:t>
            </a:r>
            <a:endParaRPr lang="en-US" sz="2750" dirty="0"/>
          </a:p>
        </p:txBody>
      </p:sp>
      <p:sp>
        <p:nvSpPr>
          <p:cNvPr id="5" name="Text 2"/>
          <p:cNvSpPr/>
          <p:nvPr/>
        </p:nvSpPr>
        <p:spPr>
          <a:xfrm>
            <a:off x="3925119" y="2346350"/>
            <a:ext cx="472276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 community-driven animal rescue and healthcare platform — bridging the gap between distress and response across India's 35 million pet-owning households and millions of stray animals.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3925119" y="3186261"/>
            <a:ext cx="1473473" cy="266402"/>
          </a:xfrm>
          <a:prstGeom prst="roundRect">
            <a:avLst>
              <a:gd name="adj" fmla="val 6386"/>
            </a:avLst>
          </a:prstGeom>
          <a:solidFill>
            <a:srgbClr val="D7F4E4"/>
          </a:solidFill>
          <a:ln/>
        </p:spPr>
      </p:sp>
      <p:sp>
        <p:nvSpPr>
          <p:cNvPr id="7" name="Text 4"/>
          <p:cNvSpPr/>
          <p:nvPr/>
        </p:nvSpPr>
        <p:spPr>
          <a:xfrm>
            <a:off x="4010174" y="3228752"/>
            <a:ext cx="1303362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PROTOTYPE OVERVIEW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0" y="0"/>
            <a:ext cx="3429000" cy="5143500"/>
          </a:xfrm>
          <a:prstGeom prst="rect">
            <a:avLst/>
          </a:prstGeom>
          <a:solidFill>
            <a:srgbClr val="F0EDE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85842" y="380181"/>
            <a:ext cx="3287241" cy="438306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902568"/>
            <a:ext cx="4225082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7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The Problem We're Solving</a:t>
            </a:r>
            <a:endParaRPr lang="en-US" sz="2750" dirty="0"/>
          </a:p>
        </p:txBody>
      </p:sp>
      <p:sp>
        <p:nvSpPr>
          <p:cNvPr id="5" name="Shape 2"/>
          <p:cNvSpPr/>
          <p:nvPr/>
        </p:nvSpPr>
        <p:spPr>
          <a:xfrm>
            <a:off x="496119" y="1558156"/>
            <a:ext cx="2290465" cy="1497285"/>
          </a:xfrm>
          <a:prstGeom prst="roundRect">
            <a:avLst>
              <a:gd name="adj" fmla="val 1420"/>
            </a:avLst>
          </a:prstGeom>
          <a:solidFill>
            <a:srgbClr val="F0EDE6"/>
          </a:solidFill>
          <a:ln/>
        </p:spPr>
      </p:sp>
      <p:sp>
        <p:nvSpPr>
          <p:cNvPr id="6" name="Text 3"/>
          <p:cNvSpPr/>
          <p:nvPr/>
        </p:nvSpPr>
        <p:spPr>
          <a:xfrm>
            <a:off x="637877" y="1699915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Fragmented Care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37877" y="2006426"/>
            <a:ext cx="2006947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Vets, groomers, shelters, and rescuers operate in silos — no shared data, no coordination layer.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928342" y="1558156"/>
            <a:ext cx="2290539" cy="1497285"/>
          </a:xfrm>
          <a:prstGeom prst="roundRect">
            <a:avLst>
              <a:gd name="adj" fmla="val 1420"/>
            </a:avLst>
          </a:prstGeom>
          <a:solidFill>
            <a:srgbClr val="F0EDE6"/>
          </a:solidFill>
          <a:ln/>
        </p:spPr>
      </p:sp>
      <p:sp>
        <p:nvSpPr>
          <p:cNvPr id="9" name="Text 6"/>
          <p:cNvSpPr/>
          <p:nvPr/>
        </p:nvSpPr>
        <p:spPr>
          <a:xfrm>
            <a:off x="3070101" y="1699915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No Early Warning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3070101" y="2006426"/>
            <a:ext cx="2007022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Stray welfare depends on scattered NGO efforts with no real-time triage or distress signals.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96119" y="3197200"/>
            <a:ext cx="4722763" cy="1043657"/>
          </a:xfrm>
          <a:prstGeom prst="roundRect">
            <a:avLst>
              <a:gd name="adj" fmla="val 2038"/>
            </a:avLst>
          </a:prstGeom>
          <a:solidFill>
            <a:srgbClr val="F0EDE6"/>
          </a:solidFill>
          <a:ln/>
        </p:spPr>
      </p:sp>
      <p:sp>
        <p:nvSpPr>
          <p:cNvPr id="12" name="Text 9"/>
          <p:cNvSpPr/>
          <p:nvPr/>
        </p:nvSpPr>
        <p:spPr>
          <a:xfrm>
            <a:off x="637877" y="3338959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Owner Guesswork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637877" y="3645471"/>
            <a:ext cx="443924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Pet owners make critical health decisions based on unreliable internet searches — not expert guidance.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51321"/>
            <a:ext cx="35441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7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How PawSense Works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2407" y="1177826"/>
            <a:ext cx="6339185" cy="2901255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9492" y="1902191"/>
            <a:ext cx="407583" cy="40758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256361" y="3390124"/>
            <a:ext cx="1190142" cy="229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Resolution</a:t>
            </a:r>
            <a:endParaRPr lang="en-US" sz="1400" dirty="0"/>
          </a:p>
        </p:txBody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127357" y="1902956"/>
            <a:ext cx="407583" cy="407583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4756456" y="3390124"/>
            <a:ext cx="1190143" cy="229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NGO Triage</a:t>
            </a:r>
            <a:endParaRPr lang="en-US" sz="1400" dirty="0"/>
          </a:p>
        </p:txBody>
      </p:sp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635603" y="1902956"/>
            <a:ext cx="407583" cy="407583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3264702" y="3275491"/>
            <a:ext cx="1190142" cy="458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Live Map Updates</a:t>
            </a:r>
            <a:endParaRPr lang="en-US" sz="1400" dirty="0"/>
          </a:p>
        </p:txBody>
      </p:sp>
      <p:pic>
        <p:nvPicPr>
          <p:cNvPr id="10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135697" y="1902956"/>
            <a:ext cx="407583" cy="407583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1740341" y="3275491"/>
            <a:ext cx="1190142" cy="458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Community Reports</a:t>
            </a:r>
            <a:endParaRPr lang="en-US" sz="1400" dirty="0"/>
          </a:p>
        </p:txBody>
      </p:sp>
      <p:sp>
        <p:nvSpPr>
          <p:cNvPr id="12" name="Text 5"/>
          <p:cNvSpPr/>
          <p:nvPr/>
        </p:nvSpPr>
        <p:spPr>
          <a:xfrm>
            <a:off x="496119" y="4238551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Every report made by a community member instantly becomes an actionable data point for rescue organizations — closing the loop between public awareness and professional response.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4489" y="346770"/>
            <a:ext cx="3223915" cy="352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App Structure at a Glance</a:t>
            </a:r>
            <a:endParaRPr lang="en-US" sz="2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4489" y="935906"/>
            <a:ext cx="3759622" cy="3759622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489" y="935906"/>
            <a:ext cx="3759622" cy="375962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714503" y="2092523"/>
            <a:ext cx="1412081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9 Core Views</a:t>
            </a:r>
            <a:endParaRPr lang="en-US" sz="1100" dirty="0"/>
          </a:p>
        </p:txBody>
      </p:sp>
      <p:sp>
        <p:nvSpPr>
          <p:cNvPr id="6" name="Text 2"/>
          <p:cNvSpPr/>
          <p:nvPr/>
        </p:nvSpPr>
        <p:spPr>
          <a:xfrm>
            <a:off x="4714503" y="2359000"/>
            <a:ext cx="3759622" cy="4871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8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PawSense is structured around two user types — </a:t>
            </a:r>
            <a:pPr algn="l" indent="0" marL="0">
              <a:lnSpc>
                <a:spcPts val="1250"/>
              </a:lnSpc>
              <a:buNone/>
            </a:pPr>
            <a:r>
              <a:rPr lang="en-US" sz="8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General Users</a:t>
            </a:r>
            <a:pPr algn="l" indent="0" marL="0">
              <a:lnSpc>
                <a:spcPts val="1250"/>
              </a:lnSpc>
              <a:buNone/>
            </a:pPr>
            <a:r>
              <a:rPr lang="en-US" sz="8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and </a:t>
            </a:r>
            <a:pPr algn="l" indent="0" marL="0">
              <a:lnSpc>
                <a:spcPts val="1250"/>
              </a:lnSpc>
              <a:buNone/>
            </a:pPr>
            <a:r>
              <a:rPr lang="en-US" sz="8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Verified NGOs</a:t>
            </a:r>
            <a:pPr algn="l" indent="0" marL="0">
              <a:lnSpc>
                <a:spcPts val="1250"/>
              </a:lnSpc>
              <a:buNone/>
            </a:pPr>
            <a:r>
              <a:rPr lang="en-US" sz="8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— each with tailored interfaces that share a live, unified data layer.</a:t>
            </a:r>
            <a:endParaRPr lang="en-US" sz="850" dirty="0"/>
          </a:p>
        </p:txBody>
      </p:sp>
      <p:sp>
        <p:nvSpPr>
          <p:cNvPr id="7" name="Shape 3"/>
          <p:cNvSpPr/>
          <p:nvPr/>
        </p:nvSpPr>
        <p:spPr>
          <a:xfrm>
            <a:off x="4714503" y="2947318"/>
            <a:ext cx="3759622" cy="580355"/>
          </a:xfrm>
          <a:prstGeom prst="roundRect">
            <a:avLst>
              <a:gd name="adj" fmla="val 2920"/>
            </a:avLst>
          </a:prstGeom>
          <a:solidFill>
            <a:srgbClr val="B6D6FC"/>
          </a:solidFill>
          <a:ln/>
        </p:spPr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7463" y="3113410"/>
            <a:ext cx="141163" cy="112961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081587" y="3065487"/>
            <a:ext cx="3279577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The Community Feed and NGO Dashboard Map are the two most critical surfaces — one for reporting, one for response.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875184"/>
            <a:ext cx="3644652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7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Onboarding &amp; Identity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394022" y="1530772"/>
            <a:ext cx="4107135" cy="2737470"/>
          </a:xfrm>
          <a:prstGeom prst="roundRect">
            <a:avLst>
              <a:gd name="adj" fmla="val 777"/>
            </a:avLst>
          </a:prstGeom>
          <a:solidFill>
            <a:srgbClr val="1B5F39"/>
          </a:solidFill>
          <a:ln/>
        </p:spPr>
      </p:sp>
      <p:sp>
        <p:nvSpPr>
          <p:cNvPr id="4" name="Text 2"/>
          <p:cNvSpPr/>
          <p:nvPr/>
        </p:nvSpPr>
        <p:spPr>
          <a:xfrm>
            <a:off x="535781" y="1672530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Onboarding Splash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35781" y="2035746"/>
            <a:ext cx="3823618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 mission-first screen that communicates purpose immediately — empathy-driven copy, minimal UI, and a clear CTA to get started.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35781" y="2843733"/>
            <a:ext cx="3823618" cy="779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Animated logo reveal</a:t>
            </a:r>
            <a:endParaRPr lang="en-US" sz="1100" dirty="0"/>
          </a:p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Mission statement overlay</a:t>
            </a:r>
            <a:endParaRPr lang="en-US" sz="1100" dirty="0"/>
          </a:p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Single "Get Started" button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749701" y="1672530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Login &amp; Profile Type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749701" y="2035746"/>
            <a:ext cx="390294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Users self-select their role during sign-up. Role selection unlocks different dashboard views and permissions.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49701" y="2616919"/>
            <a:ext cx="3902943" cy="503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General User</a:t>
            </a:r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— report, browse, adopt</a:t>
            </a:r>
            <a:endParaRPr lang="en-US" sz="1100" dirty="0"/>
          </a:p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Verified NGO</a:t>
            </a:r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— triage, assign, resolve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49701" y="3279577"/>
            <a:ext cx="3902943" cy="829196"/>
          </a:xfrm>
          <a:prstGeom prst="roundRect">
            <a:avLst>
              <a:gd name="adj" fmla="val 2565"/>
            </a:avLst>
          </a:prstGeom>
          <a:solidFill>
            <a:srgbClr val="C3EED6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91460" y="3494633"/>
            <a:ext cx="177180" cy="141759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210398" y="3456756"/>
            <a:ext cx="330048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NGO accounts require verification to maintain trust and data integrity.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047155"/>
            <a:ext cx="4787801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7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Community Feed &amp; Reporting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773659"/>
            <a:ext cx="1507480" cy="9316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2882503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Community Feed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96119" y="3189015"/>
            <a:ext cx="259913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 social-style scrollable feed of distress reports — each post carries an image, timestamp, location tag, and severity badge.</a:t>
            </a:r>
            <a:endParaRPr lang="en-US" sz="11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2433" y="1773659"/>
            <a:ext cx="1507480" cy="93166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272433" y="2882503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Report Form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3272433" y="3189015"/>
            <a:ext cx="259913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Image upload + mandatory GPS pin (Google Maps / Leaflet) + a 1–5 severity scale. Every field is required before submission.</a:t>
            </a:r>
            <a:endParaRPr lang="en-US" sz="11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8747" y="1773659"/>
            <a:ext cx="1507480" cy="93166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048747" y="2882503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User Map View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6048747" y="3189015"/>
            <a:ext cx="259913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 personal interactive map showing all nearby active reports — helping individuals see the scale of need around them.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3759" y="296987"/>
            <a:ext cx="4870103" cy="332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NGO Dashboard — The Command Center</a:t>
            </a:r>
            <a:endParaRPr lang="en-US" sz="20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3759" y="838498"/>
            <a:ext cx="3918272" cy="39182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86201" y="1924645"/>
            <a:ext cx="1696938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Real-Time Coordination Map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086201" y="2170435"/>
            <a:ext cx="3158654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8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When a community post is published, its geo-coordinates automatically populate the NGO dashboard. Rescue teams can: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5086201" y="2539826"/>
            <a:ext cx="3158654" cy="5022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150"/>
              </a:lnSpc>
              <a:buSzPct val="100000"/>
              <a:buChar char="•"/>
            </a:pPr>
            <a:r>
              <a:rPr lang="en-US" sz="8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View all active distress pins on a live map</a:t>
            </a:r>
            <a:endParaRPr lang="en-US" sz="800" dirty="0"/>
          </a:p>
          <a:p>
            <a:pPr algn="l" marL="342900" indent="-342900">
              <a:lnSpc>
                <a:spcPts val="1150"/>
              </a:lnSpc>
              <a:buSzPct val="100000"/>
              <a:buChar char="•"/>
            </a:pPr>
            <a:r>
              <a:rPr lang="en-US" sz="8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Filter by urgency level (1–5 severity)</a:t>
            </a:r>
            <a:endParaRPr lang="en-US" sz="800" dirty="0"/>
          </a:p>
          <a:p>
            <a:pPr algn="l" marL="342900" indent="-342900">
              <a:lnSpc>
                <a:spcPts val="1150"/>
              </a:lnSpc>
              <a:buSzPct val="100000"/>
              <a:buChar char="•"/>
            </a:pPr>
            <a:r>
              <a:rPr lang="en-US" sz="8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Mark cases as </a:t>
            </a:r>
            <a:pPr algn="l" marL="342900" indent="-342900">
              <a:lnSpc>
                <a:spcPts val="1150"/>
              </a:lnSpc>
              <a:buSzPct val="100000"/>
              <a:buChar char="•"/>
            </a:pPr>
            <a:r>
              <a:rPr lang="en-US" sz="80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Rescue In-Progress</a:t>
            </a:r>
            <a:pPr algn="l" marL="342900" indent="-342900">
              <a:lnSpc>
                <a:spcPts val="1150"/>
              </a:lnSpc>
              <a:buSzPct val="100000"/>
              <a:buChar char="•"/>
            </a:pPr>
            <a:r>
              <a:rPr lang="en-US" sz="8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or </a:t>
            </a:r>
            <a:pPr algn="l" marL="342900" indent="-342900">
              <a:lnSpc>
                <a:spcPts val="1150"/>
              </a:lnSpc>
              <a:buSzPct val="100000"/>
              <a:buChar char="•"/>
            </a:pPr>
            <a:r>
              <a:rPr lang="en-US" sz="80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Resolved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5086201" y="3131790"/>
            <a:ext cx="3158654" cy="528786"/>
          </a:xfrm>
          <a:prstGeom prst="roundRect">
            <a:avLst>
              <a:gd name="adj" fmla="val 3016"/>
            </a:avLst>
          </a:prstGeom>
          <a:solidFill>
            <a:srgbClr val="B6FCB8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2464" y="3281139"/>
            <a:ext cx="132904" cy="10626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431631" y="3238054"/>
            <a:ext cx="2706960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Dynamic updates — no refresh needed. The map reflects the feed in real time.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874068"/>
            <a:ext cx="5026596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7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AI Triage &amp; Resource Discovery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496119" y="1600572"/>
            <a:ext cx="2622724" cy="2668860"/>
          </a:xfrm>
          <a:prstGeom prst="roundRect">
            <a:avLst>
              <a:gd name="adj" fmla="val 3486"/>
            </a:avLst>
          </a:prstGeom>
          <a:solidFill>
            <a:srgbClr val="FCFBF8"/>
          </a:solidFill>
          <a:ln w="19050">
            <a:solidFill>
              <a:srgbClr val="D6D3C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77069" y="1600572"/>
            <a:ext cx="76200" cy="2668860"/>
          </a:xfrm>
          <a:prstGeom prst="roundRect">
            <a:avLst>
              <a:gd name="adj" fmla="val 27907"/>
            </a:avLst>
          </a:prstGeom>
          <a:solidFill>
            <a:srgbClr val="1B5F39"/>
          </a:solidFill>
          <a:ln/>
        </p:spPr>
      </p:sp>
      <p:sp>
        <p:nvSpPr>
          <p:cNvPr id="5" name="Text 3"/>
          <p:cNvSpPr/>
          <p:nvPr/>
        </p:nvSpPr>
        <p:spPr>
          <a:xfrm>
            <a:off x="714077" y="1761381"/>
            <a:ext cx="2243956" cy="447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🤖</a:t>
            </a:r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 AI Triage Chat (Simulation)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14077" y="2294111"/>
            <a:ext cx="2243956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 conversational interface where users can describe symptoms or upload an image and receive immediate first-aid guidance — simulated via a structured AI prompt layer. Reduces panic, improves outcomes before a vet arrives.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60601" y="1600572"/>
            <a:ext cx="2622724" cy="2668860"/>
          </a:xfrm>
          <a:prstGeom prst="roundRect">
            <a:avLst>
              <a:gd name="adj" fmla="val 3486"/>
            </a:avLst>
          </a:prstGeom>
          <a:solidFill>
            <a:srgbClr val="FCFBF8"/>
          </a:solidFill>
          <a:ln w="19050">
            <a:solidFill>
              <a:srgbClr val="D6D3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41551" y="1600572"/>
            <a:ext cx="76200" cy="2668860"/>
          </a:xfrm>
          <a:prstGeom prst="roundRect">
            <a:avLst>
              <a:gd name="adj" fmla="val 27907"/>
            </a:avLst>
          </a:prstGeom>
          <a:solidFill>
            <a:srgbClr val="1B5F39"/>
          </a:solidFill>
          <a:ln/>
        </p:spPr>
      </p:sp>
      <p:sp>
        <p:nvSpPr>
          <p:cNvPr id="9" name="Text 7"/>
          <p:cNvSpPr/>
          <p:nvPr/>
        </p:nvSpPr>
        <p:spPr>
          <a:xfrm>
            <a:off x="3478560" y="1761381"/>
            <a:ext cx="1794867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📍</a:t>
            </a:r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 Resource Directory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478560" y="2072655"/>
            <a:ext cx="2243956" cy="1360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 searchable, location-aware list of nearby veterinary clinics and shelters. Filterable by distance, specialty, and availability — pulling from a curated, community-updated database.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25083" y="1600572"/>
            <a:ext cx="2622724" cy="2668860"/>
          </a:xfrm>
          <a:prstGeom prst="roundRect">
            <a:avLst>
              <a:gd name="adj" fmla="val 3486"/>
            </a:avLst>
          </a:prstGeom>
          <a:solidFill>
            <a:srgbClr val="FCFBF8"/>
          </a:solidFill>
          <a:ln w="19050">
            <a:solidFill>
              <a:srgbClr val="D6D3C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06033" y="1600572"/>
            <a:ext cx="76200" cy="2668860"/>
          </a:xfrm>
          <a:prstGeom prst="roundRect">
            <a:avLst>
              <a:gd name="adj" fmla="val 27907"/>
            </a:avLst>
          </a:prstGeom>
          <a:solidFill>
            <a:srgbClr val="1B5F39"/>
          </a:solidFill>
          <a:ln/>
        </p:spPr>
      </p:sp>
      <p:sp>
        <p:nvSpPr>
          <p:cNvPr id="13" name="Text 11"/>
          <p:cNvSpPr/>
          <p:nvPr/>
        </p:nvSpPr>
        <p:spPr>
          <a:xfrm>
            <a:off x="6243042" y="1761381"/>
            <a:ext cx="2243956" cy="447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🏠</a:t>
            </a:r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 Adoption &amp; Foster Portal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243042" y="2294111"/>
            <a:ext cx="2243956" cy="1360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 secondary feed dedicated to animals ready for homes — each profile includes health status, rescue backstory, and a direct contact form for foster or adoption inquiries.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29000" cy="5143500"/>
          </a:xfrm>
          <a:prstGeom prst="rect">
            <a:avLst/>
          </a:prstGeom>
          <a:solidFill>
            <a:srgbClr val="F0EDE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103" y="369912"/>
            <a:ext cx="3302719" cy="440367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70871" y="384497"/>
            <a:ext cx="3156496" cy="394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24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Prototype Screens</a:t>
            </a:r>
            <a:endParaRPr lang="en-US" sz="2450" dirty="0"/>
          </a:p>
        </p:txBody>
      </p:sp>
      <p:sp>
        <p:nvSpPr>
          <p:cNvPr id="5" name="Text 2"/>
          <p:cNvSpPr/>
          <p:nvPr/>
        </p:nvSpPr>
        <p:spPr>
          <a:xfrm>
            <a:off x="3870871" y="947663"/>
            <a:ext cx="4831259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Insert your prototype screenshots below. Each placeholder represents one of the 9 core views of PawSense.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3870871" y="1456060"/>
            <a:ext cx="4831259" cy="741387"/>
          </a:xfrm>
          <a:prstGeom prst="roundRect">
            <a:avLst>
              <a:gd name="adj" fmla="val 2555"/>
            </a:avLst>
          </a:prstGeom>
          <a:solidFill>
            <a:srgbClr val="FCFBF8"/>
          </a:solidFill>
          <a:ln w="14288">
            <a:solidFill>
              <a:srgbClr val="D6D3C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011364" y="1596554"/>
            <a:ext cx="1687785" cy="202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📱</a:t>
            </a:r>
            <a:pPr algn="l"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 Onboarding &amp; Login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011364" y="1866007"/>
            <a:ext cx="4550271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50" i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Paste your splash screen and role-selection screenshots here.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870871" y="2309887"/>
            <a:ext cx="4831259" cy="741387"/>
          </a:xfrm>
          <a:prstGeom prst="roundRect">
            <a:avLst>
              <a:gd name="adj" fmla="val 2555"/>
            </a:avLst>
          </a:prstGeom>
          <a:solidFill>
            <a:srgbClr val="FCFBF8"/>
          </a:solidFill>
          <a:ln w="14288">
            <a:solidFill>
              <a:srgbClr val="D6D3C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011364" y="2450381"/>
            <a:ext cx="1663154" cy="202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📰</a:t>
            </a:r>
            <a:pPr algn="l"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 Feed &amp; Report Form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011364" y="2719834"/>
            <a:ext cx="4550271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50" i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Paste your community feed and report submission UI here.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870871" y="3163714"/>
            <a:ext cx="4831259" cy="741387"/>
          </a:xfrm>
          <a:prstGeom prst="roundRect">
            <a:avLst>
              <a:gd name="adj" fmla="val 2555"/>
            </a:avLst>
          </a:prstGeom>
          <a:solidFill>
            <a:srgbClr val="FCFBF8"/>
          </a:solidFill>
          <a:ln w="14288">
            <a:solidFill>
              <a:srgbClr val="D6D3C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011364" y="3304208"/>
            <a:ext cx="1961480" cy="202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🗺️</a:t>
            </a:r>
            <a:pPr algn="l"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 Maps &amp; NGO Dashboard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011364" y="3573661"/>
            <a:ext cx="4550271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50" i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Paste your user map and NGO coordination dashboard here.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3870871" y="4017541"/>
            <a:ext cx="4831259" cy="741387"/>
          </a:xfrm>
          <a:prstGeom prst="roundRect">
            <a:avLst>
              <a:gd name="adj" fmla="val 2555"/>
            </a:avLst>
          </a:prstGeom>
          <a:solidFill>
            <a:srgbClr val="FCFBF8"/>
          </a:solidFill>
          <a:ln w="14288">
            <a:solidFill>
              <a:srgbClr val="D6D3C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011364" y="4158035"/>
            <a:ext cx="2006129" cy="202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🤖</a:t>
            </a:r>
            <a:pPr algn="l"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 AI, Directory &amp; Adoption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011364" y="4427488"/>
            <a:ext cx="4550271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50" i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Paste your triage chat, resource list, and adoption portal here.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2026-05-15T03:43:29Z</dcterms:created>
  <dcterms:modified xsi:type="dcterms:W3CDTF">2026-05-15T03:43:29Z</dcterms:modified>
</cp:coreProperties>
</file>