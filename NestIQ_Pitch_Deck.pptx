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6C3FC4">
              <a:alpha val="30000"/>
            </a:srgbClr>
          </a:solidFill>
          <a:ln w="12700">
            <a:solidFill>
              <a:srgbClr val="6C3F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6C3FC4">
              <a:alpha val="20000"/>
            </a:srgbClr>
          </a:solidFill>
          <a:ln w="12700">
            <a:solidFill>
              <a:srgbClr val="6C3FC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6C3FC4">
              <a:alpha val="50000"/>
            </a:srgbClr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9B72E8"/>
                </a:solidFill>
              </a:rPr>
              <a:t>HACKATHON PITCH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400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NestIQ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B72E8"/>
                </a:solidFill>
              </a:rPr>
              <a:t>AI-powered real estate platform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B72E8"/>
                </a:solidFill>
              </a:rPr>
              <a:t>built on transparency, trust, and intelligence.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621792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B8B0D8"/>
                </a:solidFill>
              </a:rPr>
              <a:t>"In 2025, AI can diagnose cancer and predict the weather in seconds. But the most important financial decision of an Indian family's life is still made blind."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965960" cy="274320"/>
          </a:xfrm>
          <a:prstGeom prst="roundRect">
            <a:avLst>
              <a:gd name="adj" fmla="val 13333"/>
            </a:avLst>
          </a:prstGeom>
          <a:solidFill>
            <a:srgbClr val="6C3FC4">
              <a:alpha val="35000"/>
            </a:srgbClr>
          </a:solidFill>
          <a:ln w="12700">
            <a:solidFill>
              <a:srgbClr val="6C3FC4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6344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Fair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70048" y="4663440"/>
            <a:ext cx="1965960" cy="274320"/>
          </a:xfrm>
          <a:prstGeom prst="roundRect">
            <a:avLst>
              <a:gd name="adj" fmla="val 13333"/>
            </a:avLst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466344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Legal Health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91456" y="4663440"/>
            <a:ext cx="1965960" cy="274320"/>
          </a:xfrm>
          <a:prstGeom prst="roundRect">
            <a:avLst>
              <a:gd name="adj" fmla="val 13333"/>
            </a:avLst>
          </a:prstGeom>
          <a:solidFill>
            <a:srgbClr val="E8522A">
              <a:alpha val="35000"/>
            </a:srgbClr>
          </a:solidFill>
          <a:ln w="12700">
            <a:solidFill>
              <a:srgbClr val="E8522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466344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Fraud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12864" y="4663440"/>
            <a:ext cx="1965960" cy="274320"/>
          </a:xfrm>
          <a:prstGeom prst="roundRect">
            <a:avLst>
              <a:gd name="adj" fmla="val 13333"/>
            </a:avLst>
          </a:prstGeom>
          <a:solidFill>
            <a:srgbClr val="D97706">
              <a:alpha val="35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466344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Direct Deal Room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6C3FC4">
              <a:alpha val="25000"/>
            </a:srgbClr>
          </a:solidFill>
          <a:ln w="12700">
            <a:solidFill>
              <a:srgbClr val="6C3FC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29260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B72E8"/>
                </a:solidFill>
              </a:rPr>
              <a:t>Buying a home in India is broken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3749040"/>
            <a:ext cx="2926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</a:rPr>
              <a:t>₹40K Cr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4297680"/>
            <a:ext cx="2834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C8"/>
                </a:solidFill>
              </a:rPr>
              <a:t>paid to brokers every year just for holding information hostage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35661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60520" y="32004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No fair price signal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60520" y="66751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Buyers negotiate blind. Brokers set prices with zero accountability.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1371600"/>
            <a:ext cx="5212080" cy="0"/>
          </a:xfrm>
          <a:prstGeom prst="line">
            <a:avLst/>
          </a:prstGeom>
          <a:noFill/>
          <a:ln w="6350">
            <a:solidFill>
              <a:srgbClr val="E2E0F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08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472184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Legal landmines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60520" y="1819656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Disputed titles, missing RERA approvals — discovered only after full payment.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703320" y="2523744"/>
            <a:ext cx="5212080" cy="0"/>
          </a:xfrm>
          <a:prstGeom prst="line">
            <a:avLst/>
          </a:prstGeom>
          <a:noFill/>
          <a:ln w="6350">
            <a:solidFill>
              <a:srgbClr val="E2E0F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66090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60520" y="2624328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Fake listings everywhere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297180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Duplicate photos, ghost properties, and scam accounts on every portal.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703320" y="3675888"/>
            <a:ext cx="5212080" cy="0"/>
          </a:xfrm>
          <a:prstGeom prst="line">
            <a:avLst/>
          </a:prstGeom>
          <a:noFill/>
          <a:ln w="6350">
            <a:solidFill>
              <a:srgbClr val="E2E0F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81304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60520" y="37764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Platforms are just boards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160520" y="412394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MagicBricks, 99acres — zero intelligence, zero verification, zero trust.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E8"/>
                </a:solidFill>
              </a:rPr>
              <a:t>MARKET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04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opportunity is massive.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And almost entirely captured by intermediaries who profit from opacity.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2560320"/>
          </a:xfrm>
          <a:prstGeom prst="rect">
            <a:avLst/>
          </a:prstGeom>
          <a:solidFill>
            <a:srgbClr val="1A1040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₹33L Cr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B72E8"/>
                </a:solidFill>
              </a:rPr>
              <a:t>Real estate market 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B9BC8"/>
                </a:solidFill>
              </a:rPr>
              <a:t>2nd largest sector in India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2103120"/>
            <a:ext cx="1920240" cy="2560320"/>
          </a:xfrm>
          <a:prstGeom prst="rect">
            <a:avLst/>
          </a:prstGeom>
          <a:solidFill>
            <a:srgbClr val="EEE8FC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22402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04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2nd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30175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C3FC4"/>
                </a:solidFill>
              </a:rPr>
              <a:t>Largest employer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3493008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After agriculture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2103120"/>
            <a:ext cx="1920240" cy="2560320"/>
          </a:xfrm>
          <a:prstGeom prst="rect">
            <a:avLst/>
          </a:prstGeom>
          <a:solidFill>
            <a:srgbClr val="CCFBF1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22402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F4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30175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65F46"/>
                </a:solidFill>
              </a:rPr>
              <a:t>First-time buyers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3493008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0D9488"/>
                </a:solidFill>
              </a:rPr>
              <a:t>Navigate with no data or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2103120"/>
            <a:ext cx="1920240" cy="2560320"/>
          </a:xfrm>
          <a:prstGeom prst="rect">
            <a:avLst/>
          </a:prstGeom>
          <a:solidFill>
            <a:srgbClr val="FDEEE8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22402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1D0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₹40K Cr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11696" y="30175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1D06"/>
                </a:solidFill>
              </a:rPr>
              <a:t>Annual broker commissions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3493008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E8522A"/>
                </a:solidFill>
              </a:rPr>
              <a:t>Just for gatekeeping information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3FC4"/>
                </a:solidFill>
              </a:rPr>
              <a:t>NestIQ's goal: redirect a ₹40,000 crore broker-commission economy back into the hands of buyers and sellers.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6C3FC4">
              <a:alpha val="18000"/>
            </a:srgbClr>
          </a:solidFill>
          <a:ln w="12700">
            <a:solidFill>
              <a:srgbClr val="6C3FC4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54864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1440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</a:rPr>
              <a:t>"In 2025, AI can diagnose cancer and predict the weather in seconds.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</a:rPr>
              <a:t>But the most important financial decision of an Indian family's life — buying a home — is still made blind.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B8B0D8"/>
                </a:solidFill>
              </a:rPr>
              <a:t>No verified data, no legal checks, no fair price signal. Just a broker who profits from keeping you in the dark.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D9488"/>
                </a:solidFill>
              </a:rPr>
              <a:t>₹40,000 crore a year, just for holding information hostage."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8138160" cy="502920"/>
          </a:xfrm>
          <a:prstGeom prst="rect">
            <a:avLst/>
          </a:prstGeom>
          <a:solidFill>
            <a:srgbClr val="6C3FC4">
              <a:alpha val="30000"/>
            </a:srgbClr>
          </a:solidFill>
          <a:ln w="12700">
            <a:solidFill>
              <a:srgbClr val="6C3FC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That platform is NestIQ.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THE SOLUTION — SIX INTELLIGENCE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158191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AI Fair Price Engine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929384"/>
            <a:ext cx="254203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True market value using location, historical transactions, and live trends.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60120"/>
            <a:ext cx="6400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1887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158191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Legal Health Score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47288" y="1929384"/>
            <a:ext cx="254203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RERA, encumbrances, litigation — a 0–100 trust score before you enquire.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60120"/>
            <a:ext cx="64008" cy="17830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1887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158191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Fraud Detection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19088" y="1929384"/>
            <a:ext cx="254203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Image fingerprinting catches duplicate photos and ghost listings instantly.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26080"/>
            <a:ext cx="64008" cy="178308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546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" y="354787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Virtual Neighbourhood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5488" y="3895344"/>
            <a:ext cx="254203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Street-level walkthrough, schools, hospitals, commute heatmap — before you visit.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26080"/>
            <a:ext cx="64008" cy="1783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15468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7288" y="354787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AI-Mediated Deal Room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47288" y="3895344"/>
            <a:ext cx="254203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Buyer meets seller directly. AI flags manipulation and anchors both to data.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926080"/>
            <a:ext cx="6400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15468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19088" y="3547872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Loan &amp; EMI Planner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19088" y="3895344"/>
            <a:ext cx="254203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Real-time eligibility across lenders, EMI scenarios, and pre-approval in-app.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72E8"/>
                </a:solidFill>
              </a:rPr>
              <a:t>HOW NESTIQ CHANGES THE EXPERIENCE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06040" y="896112"/>
            <a:ext cx="3017520" cy="365760"/>
          </a:xfrm>
          <a:prstGeom prst="rect">
            <a:avLst/>
          </a:prstGeom>
          <a:solidFill>
            <a:srgbClr val="FEECEC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06040" y="8961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Before NestIQ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06440" y="896112"/>
            <a:ext cx="301752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8961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With NestIQ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1389888"/>
            <a:ext cx="9144000" cy="694944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481328"/>
            <a:ext cx="2286000" cy="512064"/>
          </a:xfrm>
          <a:prstGeom prst="rect">
            <a:avLst/>
          </a:prstGeom>
          <a:solidFill>
            <a:srgbClr val="EEE8FC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481328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3FC4"/>
                </a:solidFill>
              </a:rPr>
              <a:t>Pricing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159105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944368" y="1481328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Broker quotes arbitrary price; buyer guesses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910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44768" y="1481328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64E3B"/>
                </a:solidFill>
              </a:rPr>
              <a:t>AI fair price estimate with data-backed range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0" y="2084832"/>
            <a:ext cx="9144000" cy="0"/>
          </a:xfrm>
          <a:prstGeom prst="line">
            <a:avLst/>
          </a:prstGeom>
          <a:noFill/>
          <a:ln w="6350">
            <a:solidFill>
              <a:srgbClr val="E5E1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0" y="2103120"/>
            <a:ext cx="9144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" y="2194560"/>
            <a:ext cx="2286000" cy="512064"/>
          </a:xfrm>
          <a:prstGeom prst="rect">
            <a:avLst/>
          </a:prstGeom>
          <a:solidFill>
            <a:srgbClr val="EEE8FC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37160" y="219456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3FC4"/>
                </a:solidFill>
              </a:rPr>
              <a:t>Legal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230428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44368" y="2194560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Issues discovered only after full payment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3042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44768" y="2194560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64E3B"/>
                </a:solidFill>
              </a:rPr>
              <a:t>Legal health score visible before enquiry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0" y="2798064"/>
            <a:ext cx="9144000" cy="0"/>
          </a:xfrm>
          <a:prstGeom prst="line">
            <a:avLst/>
          </a:prstGeom>
          <a:noFill/>
          <a:ln w="6350">
            <a:solidFill>
              <a:srgbClr val="E5E1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0" y="2816352"/>
            <a:ext cx="9144000" cy="694944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37160" y="2907792"/>
            <a:ext cx="2286000" cy="512064"/>
          </a:xfrm>
          <a:prstGeom prst="rect">
            <a:avLst/>
          </a:prstGeom>
          <a:solidFill>
            <a:srgbClr val="EEE8FC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37160" y="2907792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3FC4"/>
                </a:solidFill>
              </a:rPr>
              <a:t>Trust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3017520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944368" y="2907792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Fake listings, recycled photos, ghost properties</a:t>
            </a:r>
            <a:endParaRPr lang="en-US" sz="10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01752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44768" y="2907792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64E3B"/>
                </a:solidFill>
              </a:rPr>
              <a:t>Fraud score + image fingerprint on every listing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0" y="3511296"/>
            <a:ext cx="9144000" cy="0"/>
          </a:xfrm>
          <a:prstGeom prst="line">
            <a:avLst/>
          </a:prstGeom>
          <a:noFill/>
          <a:ln w="6350">
            <a:solidFill>
              <a:srgbClr val="E5E1F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0" y="3529584"/>
            <a:ext cx="9144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37160" y="3621024"/>
            <a:ext cx="2286000" cy="512064"/>
          </a:xfrm>
          <a:prstGeom prst="rect">
            <a:avLst/>
          </a:prstGeom>
          <a:solidFill>
            <a:srgbClr val="EEE8FC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137160" y="3621024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3FC4"/>
                </a:solidFill>
              </a:rPr>
              <a:t>Negotiation</a:t>
            </a:r>
            <a:endParaRPr lang="en-US" sz="12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3730752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944368" y="3621024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Broker controls all communication</a:t>
            </a:r>
            <a:endParaRPr lang="en-US" sz="10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730752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144768" y="3621024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64E3B"/>
                </a:solidFill>
              </a:rPr>
              <a:t>Direct deal room with AI mediation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6350">
            <a:solidFill>
              <a:srgbClr val="E5E1F8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0" y="4242816"/>
            <a:ext cx="9144000" cy="694944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137160" y="4334256"/>
            <a:ext cx="2286000" cy="512064"/>
          </a:xfrm>
          <a:prstGeom prst="rect">
            <a:avLst/>
          </a:prstGeom>
          <a:solidFill>
            <a:srgbClr val="EEE8FC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137160" y="4334256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3FC4"/>
                </a:solidFill>
              </a:rPr>
              <a:t>Finance</a:t>
            </a:r>
            <a:endParaRPr lang="en-US" sz="12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4443984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944368" y="4334256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Multiple bank visits, repeated paperwork</a:t>
            </a:r>
            <a:endParaRPr lang="en-US" sz="105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4443984"/>
            <a:ext cx="256032" cy="25603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144768" y="4334256"/>
            <a:ext cx="272491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64E3B"/>
                </a:solidFill>
              </a:rPr>
              <a:t>Eligibility + EMI planner + pre-approval in-app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A FIRST-TIME BUYER — ZERO BROKER NEEDED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216152"/>
            <a:ext cx="475488" cy="475488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16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Search with intent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Natural-language: "3BHK under ₹80L, 20 min from Andheri, good schools nearby"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65192" y="121615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16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06984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See verified listings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43560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Fraud score filters fakes before they appear. Every card shows a trust badge.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542032"/>
            <a:ext cx="475488" cy="475488"/>
          </a:xfrm>
          <a:prstGeom prst="ellipse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3957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Check legal health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One tap reveals encumbrances, RERA status, pending litigation, and approvals.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65192" y="2542032"/>
            <a:ext cx="475488" cy="475488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542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23957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Walk the neighbourhood virtually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76148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Street-level tour, commute heatmap, flood risk overlay — before visiting in person.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867912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8679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72160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Negotiate directly with AI support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08736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Open a deal room. AI suggests data-backed counteroffers and flags pressure tactics.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386791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8679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372160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1040"/>
                </a:solidFill>
              </a:rPr>
              <a:t>Plan and close financing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08736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Eligibility check, EMI scenarios across lenders, pre-approval — without leaving the app.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WHY NESTIQ WINS — OUR MOATS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8F7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8686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2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Data flywheel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1389888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Every transaction, negotiation, and valuation feeds the model. NestIQ gets smarter with each deal. Incumbents have listings — not intelligence.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9659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71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01168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Trust as a product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05840" y="2395728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Legal scores and fraud detection create a trust premium. Once users see verified listings, unverified portals feel dangerous.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F8F7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971800"/>
            <a:ext cx="64008" cy="8686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729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017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Disintermediation incentive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05840" y="3401568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Sellers save ~2% commission. Buyers get unbiased data. Both sides are strongly incentivised to transact on NestIQ over a broker.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4320" y="3977640"/>
            <a:ext cx="6400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7880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402336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A1040"/>
                </a:solidFill>
              </a:rPr>
              <a:t>Regulatory tailwinds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4407408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RERA mandates transparency. NestIQ is the platform that makes compliance visible — governments and consumers both benefit.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E8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04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Revenue streams — aligned with user trust.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743200" cy="6400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6916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EE8FC"/>
          </a:solidFill>
          <a:ln w="12700">
            <a:solidFill>
              <a:srgbClr val="EEE8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6916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C2E8A"/>
                </a:solidFill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2057400"/>
            <a:ext cx="2423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040"/>
                </a:solidFill>
              </a:rPr>
              <a:t>Subscription — Sellers &amp; Developers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697480"/>
            <a:ext cx="2423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Builders and institutional sellers pay for verified listing slots, buyer analytics, and lead quality scoring.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4069080"/>
            <a:ext cx="2423160" cy="438912"/>
          </a:xfrm>
          <a:prstGeom prst="rect">
            <a:avLst/>
          </a:prstGeom>
          <a:solidFill>
            <a:srgbClr val="EEE8FC"/>
          </a:solidFill>
          <a:ln w="12700">
            <a:solidFill>
              <a:srgbClr val="EEE8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4069080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2E8A"/>
                </a:solidFill>
              </a:rPr>
              <a:t>₹5K–50K/mo per builder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4408" y="1554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554480"/>
            <a:ext cx="2743200" cy="64008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6916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916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D4ED8"/>
                </a:solidFill>
              </a:rPr>
              <a:t>SECONDARY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057400"/>
            <a:ext cx="2423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040"/>
                </a:solidFill>
              </a:rPr>
              <a:t>Loan Referral Fees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697480"/>
            <a:ext cx="2423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Revenue share with lenders for pre-qualified leads sent through the EMI planner. Buyer pays nothing.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4069080"/>
            <a:ext cx="242316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4069080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0.3–0.5% of loan value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08776" y="1554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F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155448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16916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16916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F766E"/>
                </a:solidFill>
              </a:rPr>
              <a:t>PREMIUM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73368" y="2057400"/>
            <a:ext cx="2423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040"/>
                </a:solidFill>
              </a:rPr>
              <a:t>NestIQ Pro — Buyers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73368" y="2697480"/>
            <a:ext cx="2423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Optional ₹499/month: unlimited legal reports, AI negotiation coach, priority deal room access.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3368" y="4069080"/>
            <a:ext cx="242316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4069080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₹499/month per user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3FC4">
              <a:alpha val="22000"/>
            </a:srgbClr>
          </a:solidFill>
          <a:ln w="12700">
            <a:solidFill>
              <a:srgbClr val="6C3FC4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1732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NestIQ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2286000" y="242316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606040"/>
            <a:ext cx="7680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</a:rPr>
              <a:t>Real estate in India doesn't need another portal.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0D8"/>
                </a:solidFill>
              </a:rPr>
              <a:t>It needs a platform that treats buyers as intelligent adults,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0D8"/>
                </a:solidFill>
              </a:rPr>
              <a:t>arms them with data, and removes every party that profits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0D8"/>
                </a:solidFill>
              </a:rPr>
              <a:t>from keeping information hidden.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That platform is NestIQ.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4778</Words>
  <Application>WPS Writer</Application>
  <PresentationFormat>On-screen Show (16:9)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NestIQ Pitch Deck</dc:title>
  <dc:creator>PptxGenJS</dc:creator>
  <dc:subject>PptxGenJS Presentation</dc:subject>
  <cp:lastModifiedBy>Ash Porob</cp:lastModifiedBy>
  <cp:revision>5</cp:revision>
  <dcterms:created xsi:type="dcterms:W3CDTF">2026-05-15T04:29:01Z</dcterms:created>
  <dcterms:modified xsi:type="dcterms:W3CDTF">2026-05-15T04:29:01Z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55251BDCEBA58E80307D066AFD68357D_42</vt:lpwstr>
  </property>
  <property fmtid="{D5CDD505-2E9C-101B-9397-08002B2CF9AE}" pid="3" name="KSOProductBuildVer">
    <vt:lpwstr>1033-12.1.23152.23152</vt:lpwstr>
  </property>
</Properties>
</file>