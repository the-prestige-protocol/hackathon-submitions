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1097280"/>
            <a:ext cx="4754880" cy="4754880"/>
          </a:xfrm>
          <a:prstGeom prst="arc">
            <a:avLst/>
          </a:prstGeom>
          <a:noFill/>
          <a:ln w="190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3840480"/>
            <a:ext cx="5029200" cy="5029200"/>
          </a:xfrm>
          <a:prstGeom prst="arc">
            <a:avLst/>
          </a:prstGeom>
          <a:noFill/>
          <a:ln w="13970">
            <a:solidFill>
              <a:srgbClr val="7DD3FC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384048"/>
            <a:ext cx="2240280" cy="292608"/>
          </a:xfrm>
          <a:prstGeom prst="roundRect">
            <a:avLst>
              <a:gd name="adj" fmla="val 18750"/>
            </a:avLst>
          </a:prstGeom>
          <a:solidFill>
            <a:srgbClr val="132A4B">
              <a:alpha val="92000"/>
            </a:srgbClr>
          </a:solidFill>
          <a:ln w="12700">
            <a:solidFill>
              <a:srgbClr val="365275">
                <a:alpha val="9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70916"/>
            <a:ext cx="118872" cy="11887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466344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7D8F5"/>
                </a:solidFill>
              </a:rPr>
              <a:t>AUDIO DEEPFAKE DEFENSE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9601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DeepShield AI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21792" y="17556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AAB6C6"/>
                </a:solidFill>
              </a:rPr>
              <a:t>A local web app that screens uploaded voice notes for AI-generated audio patterns and explains the risk in plain language.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21792" y="2834640"/>
            <a:ext cx="4434840" cy="1325880"/>
          </a:xfrm>
          <a:prstGeom prst="roundRect">
            <a:avLst>
              <a:gd name="adj" fmla="val 5517"/>
            </a:avLst>
          </a:prstGeom>
          <a:solidFill>
            <a:srgbClr val="0E1B31"/>
          </a:solidFill>
          <a:ln w="12700">
            <a:solidFill>
              <a:srgbClr val="365275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1272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77%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8680" y="35387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AB6C6"/>
                </a:solidFill>
              </a:rPr>
              <a:t>human voice note authenticity in demo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971800" y="31272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71800" y="35387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AB6C6"/>
                </a:solidFill>
              </a:rPr>
              <a:t>fake sample authenticity in test</a:t>
            </a:r>
            <a:endParaRPr lang="en-US" sz="850" dirty="0"/>
          </a:p>
        </p:txBody>
      </p:sp>
      <p:pic>
        <p:nvPicPr>
          <p:cNvPr id="15" name="Image 0" descr="C:/Users/kiafe/OneDrive/Documents/Desktop/hackaton/screenshots/deepshield-analysis-result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566928"/>
            <a:ext cx="5577840" cy="312724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97880" y="4069080"/>
            <a:ext cx="5532120" cy="1325880"/>
          </a:xfrm>
          <a:prstGeom prst="roundRect">
            <a:avLst>
              <a:gd name="adj" fmla="val 5517"/>
            </a:avLst>
          </a:prstGeom>
          <a:solidFill>
            <a:srgbClr val="0B1628"/>
          </a:solidFill>
          <a:ln w="12700">
            <a:solidFill>
              <a:srgbClr val="365275">
                <a:alpha val="7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99632" y="43525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Built for quick verification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199632" y="4709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AB6C6"/>
                </a:solidFill>
              </a:rPr>
              <a:t>Upload audio -&gt; extract acoustic features -&gt; classify with a trained Random Forest -&gt; return score and risk.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1148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KopCoders | DeepShield AI | PS2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1292840" y="6428232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1097280"/>
            <a:ext cx="4754880" cy="4754880"/>
          </a:xfrm>
          <a:prstGeom prst="arc">
            <a:avLst/>
          </a:prstGeom>
          <a:noFill/>
          <a:ln w="190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3840480"/>
            <a:ext cx="5029200" cy="5029200"/>
          </a:xfrm>
          <a:prstGeom prst="arc">
            <a:avLst/>
          </a:prstGeom>
          <a:noFill/>
          <a:ln w="13970">
            <a:solidFill>
              <a:srgbClr val="7DD3FC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384048"/>
            <a:ext cx="2240280" cy="292608"/>
          </a:xfrm>
          <a:prstGeom prst="roundRect">
            <a:avLst>
              <a:gd name="adj" fmla="val 18750"/>
            </a:avLst>
          </a:prstGeom>
          <a:solidFill>
            <a:srgbClr val="132A4B">
              <a:alpha val="92000"/>
            </a:srgbClr>
          </a:solidFill>
          <a:ln w="12700">
            <a:solidFill>
              <a:srgbClr val="365275">
                <a:alpha val="9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70916"/>
            <a:ext cx="118872" cy="11887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466344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7D8F5"/>
                </a:solidFill>
              </a:rPr>
              <a:t>PROBLEM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Voice cloning makes trust expensive.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12648" y="153619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AB6C6"/>
                </a:solidFill>
              </a:rPr>
              <a:t>A short audio clip can now impersonate a person, pressure a victim, or seed misinformation.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85800" y="214884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101B2F"/>
          </a:solidFill>
          <a:ln w="12700">
            <a:solidFill>
              <a:srgbClr val="365275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14884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101B2F"/>
          </a:solidFill>
          <a:ln w="12700">
            <a:solidFill>
              <a:srgbClr val="365275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66760" y="214884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101B2F"/>
          </a:solidFill>
          <a:ln w="12700">
            <a:solidFill>
              <a:srgbClr val="365275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Scams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30632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AAB6C6"/>
                </a:solidFill>
              </a:rPr>
              <a:t>Fake emergency calls and payment requests can sound like someone trusted.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480060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Misinformation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30632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AAB6C6"/>
                </a:solidFill>
              </a:rPr>
              <a:t>Synthetic speeches or voice notes can spread before a human can verify them.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8641080" y="2514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No easy check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41080" y="30632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AAB6C6"/>
                </a:solidFill>
              </a:rPr>
              <a:t>Most users do not have forensic tools or time to inspect audio signals.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2057400" y="5074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DD3FC"/>
                </a:solidFill>
              </a:rPr>
              <a:t>DeepShield answers one question fast: should this audio be trusted?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1148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KopCoders | DeepShield AI | PS2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92840" y="6428232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1097280"/>
            <a:ext cx="4754880" cy="4754880"/>
          </a:xfrm>
          <a:prstGeom prst="arc">
            <a:avLst/>
          </a:prstGeom>
          <a:noFill/>
          <a:ln w="190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3840480"/>
            <a:ext cx="5029200" cy="5029200"/>
          </a:xfrm>
          <a:prstGeom prst="arc">
            <a:avLst/>
          </a:prstGeom>
          <a:noFill/>
          <a:ln w="13970">
            <a:solidFill>
              <a:srgbClr val="7DD3FC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384048"/>
            <a:ext cx="2240280" cy="292608"/>
          </a:xfrm>
          <a:prstGeom prst="roundRect">
            <a:avLst>
              <a:gd name="adj" fmla="val 18750"/>
            </a:avLst>
          </a:prstGeom>
          <a:solidFill>
            <a:srgbClr val="132A4B">
              <a:alpha val="92000"/>
            </a:srgbClr>
          </a:solidFill>
          <a:ln w="12700">
            <a:solidFill>
              <a:srgbClr val="365275">
                <a:alpha val="9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70916"/>
            <a:ext cx="118872" cy="11887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466344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7D8F5"/>
                </a:solidFill>
              </a:rPr>
              <a:t>SOLUTION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simple upload flow turns audio into a risk signal.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12648" y="153619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AB6C6"/>
                </a:solidFill>
              </a:rPr>
              <a:t>The user sees an authenticity score, risk badge, and short explanation.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731520" y="2240280"/>
            <a:ext cx="2240280" cy="2194560"/>
          </a:xfrm>
          <a:prstGeom prst="roundRect">
            <a:avLst>
              <a:gd name="adj" fmla="val 3333"/>
            </a:avLst>
          </a:prstGeom>
          <a:solidFill>
            <a:srgbClr val="101B2F"/>
          </a:solidFill>
          <a:ln w="12700">
            <a:solidFill>
              <a:srgbClr val="365275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2514600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6060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50976" y="30632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Upload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50976" y="352958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6C6"/>
                </a:solidFill>
              </a:rPr>
              <a:t>User selects a voice note or audio clip.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08960" y="3090672"/>
            <a:ext cx="256032" cy="310896"/>
          </a:xfrm>
          <a:prstGeom prst="chevron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>
                <a:alpha val="9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0440" y="2240280"/>
            <a:ext cx="2240280" cy="2194560"/>
          </a:xfrm>
          <a:prstGeom prst="roundRect">
            <a:avLst>
              <a:gd name="adj" fmla="val 3333"/>
            </a:avLst>
          </a:prstGeom>
          <a:solidFill>
            <a:srgbClr val="101B2F"/>
          </a:solidFill>
          <a:ln w="12700">
            <a:solidFill>
              <a:srgbClr val="365275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21608" y="2514600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9624" y="26060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39896" y="30632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Extract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739896" y="352958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6C6"/>
                </a:solidFill>
              </a:rPr>
              <a:t>Backend computes acoustic features with librosa.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97880" y="3090672"/>
            <a:ext cx="256032" cy="310896"/>
          </a:xfrm>
          <a:prstGeom prst="chevron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>
                <a:alpha val="9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2240280"/>
            <a:ext cx="2240280" cy="2194560"/>
          </a:xfrm>
          <a:prstGeom prst="roundRect">
            <a:avLst>
              <a:gd name="adj" fmla="val 3333"/>
            </a:avLst>
          </a:prstGeom>
          <a:solidFill>
            <a:srgbClr val="101B2F"/>
          </a:solidFill>
          <a:ln w="12700">
            <a:solidFill>
              <a:srgbClr val="365275">
                <a:alpha val="7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10528" y="2514600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38544" y="26060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28816" y="30632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Classify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28816" y="352958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6C6"/>
                </a:solidFill>
              </a:rPr>
              <a:t>Random Forest estimates fake probability.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686800" y="3090672"/>
            <a:ext cx="256032" cy="310896"/>
          </a:xfrm>
          <a:prstGeom prst="chevron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>
                <a:alpha val="9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98280" y="2240280"/>
            <a:ext cx="2240280" cy="2194560"/>
          </a:xfrm>
          <a:prstGeom prst="roundRect">
            <a:avLst>
              <a:gd name="adj" fmla="val 3333"/>
            </a:avLst>
          </a:prstGeom>
          <a:solidFill>
            <a:srgbClr val="101B2F"/>
          </a:solidFill>
          <a:ln w="12700">
            <a:solidFill>
              <a:srgbClr val="365275">
                <a:alpha val="7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99448" y="2514600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27464" y="26060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317736" y="30632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Explain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317736" y="352958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6C6"/>
                </a:solidFill>
              </a:rPr>
              <a:t>UI shows score, risk, and result text.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KopCoders | DeepShield AI | PS2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292840" y="6428232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1097280"/>
            <a:ext cx="4754880" cy="4754880"/>
          </a:xfrm>
          <a:prstGeom prst="arc">
            <a:avLst/>
          </a:prstGeom>
          <a:noFill/>
          <a:ln w="190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3840480"/>
            <a:ext cx="5029200" cy="5029200"/>
          </a:xfrm>
          <a:prstGeom prst="arc">
            <a:avLst/>
          </a:prstGeom>
          <a:noFill/>
          <a:ln w="13970">
            <a:solidFill>
              <a:srgbClr val="7DD3FC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384048"/>
            <a:ext cx="2240280" cy="292608"/>
          </a:xfrm>
          <a:prstGeom prst="roundRect">
            <a:avLst>
              <a:gd name="adj" fmla="val 18750"/>
            </a:avLst>
          </a:prstGeom>
          <a:solidFill>
            <a:srgbClr val="132A4B">
              <a:alpha val="92000"/>
            </a:srgbClr>
          </a:solidFill>
          <a:ln w="12700">
            <a:solidFill>
              <a:srgbClr val="365275">
                <a:alpha val="9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70916"/>
            <a:ext cx="118872" cy="11887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466344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7D8F5"/>
                </a:solidFill>
              </a:rPr>
              <a:t>ARCHITECTURE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 and FastAPI keep the detection pipeline lightweight.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12648" y="153619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AB6C6"/>
                </a:solidFill>
              </a:rPr>
              <a:t>The model runs locally from a saved pickle file; uploads are temporary.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822960" y="2103120"/>
            <a:ext cx="2057400" cy="2103120"/>
          </a:xfrm>
          <a:prstGeom prst="roundRect">
            <a:avLst>
              <a:gd name="adj" fmla="val 3556"/>
            </a:avLst>
          </a:prstGeom>
          <a:solidFill>
            <a:srgbClr val="101B2F"/>
          </a:solidFill>
          <a:ln w="12700">
            <a:solidFill>
              <a:srgbClr val="365275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103120"/>
            <a:ext cx="20574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4871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React UI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9443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6C6"/>
                </a:solidFill>
              </a:rPr>
              <a:t>File upload, progress, result display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99232" y="2962656"/>
            <a:ext cx="438912" cy="219456"/>
          </a:xfrm>
          <a:prstGeom prst="rightArrow">
            <a:avLst/>
          </a:prstGeom>
          <a:solidFill>
            <a:srgbClr val="365275"/>
          </a:solidFill>
          <a:ln w="12700">
            <a:solidFill>
              <a:srgbClr val="36527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0" y="2103120"/>
            <a:ext cx="2057400" cy="2103120"/>
          </a:xfrm>
          <a:prstGeom prst="roundRect">
            <a:avLst>
              <a:gd name="adj" fmla="val 3556"/>
            </a:avLst>
          </a:prstGeom>
          <a:solidFill>
            <a:srgbClr val="101B2F"/>
          </a:solidFill>
          <a:ln w="12700">
            <a:solidFill>
              <a:srgbClr val="365275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2103120"/>
            <a:ext cx="2057400" cy="548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24871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FastAPI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23360" y="29443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6C6"/>
                </a:solidFill>
              </a:rPr>
              <a:t>Multipart upload route and cleanup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16752" y="2962656"/>
            <a:ext cx="438912" cy="219456"/>
          </a:xfrm>
          <a:prstGeom prst="rightArrow">
            <a:avLst/>
          </a:prstGeom>
          <a:solidFill>
            <a:srgbClr val="365275"/>
          </a:solidFill>
          <a:ln w="12700">
            <a:solidFill>
              <a:srgbClr val="36527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2103120"/>
            <a:ext cx="2057400" cy="2103120"/>
          </a:xfrm>
          <a:prstGeom prst="roundRect">
            <a:avLst>
              <a:gd name="adj" fmla="val 3556"/>
            </a:avLst>
          </a:prstGeom>
          <a:solidFill>
            <a:srgbClr val="101B2F"/>
          </a:solidFill>
          <a:ln w="12700">
            <a:solidFill>
              <a:srgbClr val="365275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2103120"/>
            <a:ext cx="20574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24871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Audio Detector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0" y="29443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6C6"/>
                </a:solidFill>
              </a:rPr>
              <a:t>Feature extraction and model inference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034272" y="2962656"/>
            <a:ext cx="438912" cy="219456"/>
          </a:xfrm>
          <a:prstGeom prst="rightArrow">
            <a:avLst/>
          </a:prstGeom>
          <a:solidFill>
            <a:srgbClr val="365275"/>
          </a:solidFill>
          <a:ln w="12700">
            <a:solidFill>
              <a:srgbClr val="36527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72600" y="2103120"/>
            <a:ext cx="2057400" cy="2103120"/>
          </a:xfrm>
          <a:prstGeom prst="roundRect">
            <a:avLst>
              <a:gd name="adj" fmla="val 3556"/>
            </a:avLst>
          </a:prstGeom>
          <a:solidFill>
            <a:srgbClr val="101B2F"/>
          </a:solidFill>
          <a:ln w="12700">
            <a:solidFill>
              <a:srgbClr val="365275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72600" y="2103120"/>
            <a:ext cx="20574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55480" y="24871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Result JSON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555480" y="29443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6C6"/>
                </a:solidFill>
              </a:rPr>
              <a:t>score, risk, text returned to UI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60120" y="507492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DD3FC"/>
                </a:solidFill>
              </a:rPr>
              <a:t>Temporary upload storage is deleted in a finally block after analysis.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1148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KopCoders | DeepShield AI | PS2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292840" y="6428232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1097280"/>
            <a:ext cx="4754880" cy="4754880"/>
          </a:xfrm>
          <a:prstGeom prst="arc">
            <a:avLst/>
          </a:prstGeom>
          <a:noFill/>
          <a:ln w="190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3840480"/>
            <a:ext cx="5029200" cy="5029200"/>
          </a:xfrm>
          <a:prstGeom prst="arc">
            <a:avLst/>
          </a:prstGeom>
          <a:noFill/>
          <a:ln w="13970">
            <a:solidFill>
              <a:srgbClr val="7DD3FC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384048"/>
            <a:ext cx="2240280" cy="292608"/>
          </a:xfrm>
          <a:prstGeom prst="roundRect">
            <a:avLst>
              <a:gd name="adj" fmla="val 18750"/>
            </a:avLst>
          </a:prstGeom>
          <a:solidFill>
            <a:srgbClr val="132A4B">
              <a:alpha val="92000"/>
            </a:srgbClr>
          </a:solidFill>
          <a:ln w="12700">
            <a:solidFill>
              <a:srgbClr val="365275">
                <a:alpha val="9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70916"/>
            <a:ext cx="118872" cy="11887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466344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7D8F5"/>
                </a:solidFill>
              </a:rPr>
              <a:t>MACHINE LEARNING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detector learns from acoustic fingerprints, not file names.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12648" y="153619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AB6C6"/>
                </a:solidFill>
              </a:rPr>
              <a:t>Training labels are real vs fake; prediction uses the same ordered feature vector.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777240" y="1965960"/>
            <a:ext cx="4892040" cy="3291840"/>
          </a:xfrm>
          <a:prstGeom prst="roundRect">
            <a:avLst>
              <a:gd name="adj" fmla="val 2222"/>
            </a:avLst>
          </a:prstGeom>
          <a:solidFill>
            <a:srgbClr val="101B2F"/>
          </a:solidFill>
          <a:ln w="12700">
            <a:solidFill>
              <a:srgbClr val="365275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2478024"/>
            <a:ext cx="73152" cy="7315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6152" y="242316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13 MFCC mean coefficients capture speech spectral envelope.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51560" y="3054096"/>
            <a:ext cx="73152" cy="7315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299923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Spectral centroid mean/std describes frequency brightness and variation.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51560" y="3630168"/>
            <a:ext cx="73152" cy="7315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357530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Zero-crossing rate measures waveform texture.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51560" y="4206240"/>
            <a:ext cx="73152" cy="7315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16152" y="415137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RMS energy captures loudness behavior.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46520" y="1965960"/>
            <a:ext cx="4480560" cy="3291840"/>
          </a:xfrm>
          <a:prstGeom prst="roundRect">
            <a:avLst>
              <a:gd name="adj" fmla="val 2222"/>
            </a:avLst>
          </a:prstGeom>
          <a:solidFill>
            <a:srgbClr val="101B2F"/>
          </a:solidFill>
          <a:ln w="12700">
            <a:solidFill>
              <a:srgbClr val="365275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2423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RandomForestClassifier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812280" y="2999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D3FC"/>
                </a:solidFill>
              </a:rPr>
              <a:t>Why this model?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12280" y="333756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AB6C6"/>
                </a:solidFill>
              </a:rPr>
              <a:t>Fast on CPU, robust for structured features, explainable enough for a hackathon prototype, and easy to serialize with joblib.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12280" y="43708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fake_probability -&gt; authenticity = (1 - p_fake) x 100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KopCoders | DeepShield AI | PS2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92840" y="6428232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1097280"/>
            <a:ext cx="4754880" cy="4754880"/>
          </a:xfrm>
          <a:prstGeom prst="arc">
            <a:avLst/>
          </a:prstGeom>
          <a:noFill/>
          <a:ln w="190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3840480"/>
            <a:ext cx="5029200" cy="5029200"/>
          </a:xfrm>
          <a:prstGeom prst="arc">
            <a:avLst/>
          </a:prstGeom>
          <a:noFill/>
          <a:ln w="13970">
            <a:solidFill>
              <a:srgbClr val="7DD3FC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384048"/>
            <a:ext cx="2240280" cy="292608"/>
          </a:xfrm>
          <a:prstGeom prst="roundRect">
            <a:avLst>
              <a:gd name="adj" fmla="val 18750"/>
            </a:avLst>
          </a:prstGeom>
          <a:solidFill>
            <a:srgbClr val="132A4B">
              <a:alpha val="92000"/>
            </a:srgbClr>
          </a:solidFill>
          <a:ln w="12700">
            <a:solidFill>
              <a:srgbClr val="365275">
                <a:alpha val="9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70916"/>
            <a:ext cx="118872" cy="11887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466344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7D8F5"/>
                </a:solidFill>
              </a:rPr>
              <a:t>DEMO PROOF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demo separates a human note from a fake sample.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12648" y="153619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AB6C6"/>
                </a:solidFill>
              </a:rPr>
              <a:t>The UI turns model probability into a visible risk badge and score bar.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713232" y="2057400"/>
            <a:ext cx="4800600" cy="2423160"/>
          </a:xfrm>
          <a:prstGeom prst="roundRect">
            <a:avLst>
              <a:gd name="adj" fmla="val 3019"/>
            </a:avLst>
          </a:prstGeom>
          <a:solidFill>
            <a:srgbClr val="101B2F"/>
          </a:solidFill>
          <a:ln w="12700">
            <a:solidFill>
              <a:srgbClr val="365275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423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Human voice note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9260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60120" y="33375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AB6C6"/>
                </a:solidFill>
              </a:rPr>
              <a:t>authenticity score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37560" y="305409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LOW RISK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73952" y="2057400"/>
            <a:ext cx="4800600" cy="2423160"/>
          </a:xfrm>
          <a:prstGeom prst="roundRect">
            <a:avLst>
              <a:gd name="adj" fmla="val 3019"/>
            </a:avLst>
          </a:prstGeom>
          <a:solidFill>
            <a:srgbClr val="101B2F"/>
          </a:solidFill>
          <a:ln w="12700">
            <a:solidFill>
              <a:srgbClr val="365275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2423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Known fake sample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20840" y="29260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20840" y="33375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AB6C6"/>
                </a:solidFill>
              </a:rPr>
              <a:t>authenticity score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098280" y="305409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HIGH RISK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0" y="51663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DD3FC"/>
                </a:solidFill>
              </a:rPr>
              <a:t>The score is not a legal verdict; it is a fast screening signal that tells users when to be cautious.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1148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KopCoders | DeepShield AI | PS2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92840" y="6428232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1097280"/>
            <a:ext cx="4754880" cy="4754880"/>
          </a:xfrm>
          <a:prstGeom prst="arc">
            <a:avLst/>
          </a:prstGeom>
          <a:noFill/>
          <a:ln w="190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3840480"/>
            <a:ext cx="5029200" cy="5029200"/>
          </a:xfrm>
          <a:prstGeom prst="arc">
            <a:avLst/>
          </a:prstGeom>
          <a:noFill/>
          <a:ln w="13970">
            <a:solidFill>
              <a:srgbClr val="7DD3FC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384048"/>
            <a:ext cx="2240280" cy="292608"/>
          </a:xfrm>
          <a:prstGeom prst="roundRect">
            <a:avLst>
              <a:gd name="adj" fmla="val 18750"/>
            </a:avLst>
          </a:prstGeom>
          <a:solidFill>
            <a:srgbClr val="132A4B">
              <a:alpha val="92000"/>
            </a:srgbClr>
          </a:solidFill>
          <a:ln w="12700">
            <a:solidFill>
              <a:srgbClr val="365275">
                <a:alpha val="9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70916"/>
            <a:ext cx="118872" cy="11887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466344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7D8F5"/>
                </a:solidFill>
              </a:rPr>
              <a:t>TRUST DESIGN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Privacy and failure handling are built into the request cycle.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12648" y="153619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AB6C6"/>
                </a:solidFill>
              </a:rPr>
              <a:t>A detector should never make users choose between safety and data exposure.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914400" y="2157984"/>
            <a:ext cx="73152" cy="7315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1031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Uploads are assigned UUID filenames to avoid collisions.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" y="2798064"/>
            <a:ext cx="73152" cy="7315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274320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Files are removed after analysis using a finally block.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" y="3438144"/>
            <a:ext cx="73152" cy="7315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33832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Backend errors return an ERROR state instead of fake scores.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4078224"/>
            <a:ext cx="73152" cy="7315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402336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CORS enables local React-to-FastAPI communication during development.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0" y="2148840"/>
            <a:ext cx="4023360" cy="2331720"/>
          </a:xfrm>
          <a:prstGeom prst="roundRect">
            <a:avLst>
              <a:gd name="adj" fmla="val 3137"/>
            </a:avLst>
          </a:prstGeom>
          <a:solidFill>
            <a:srgbClr val="101B2F"/>
          </a:solidFill>
          <a:ln w="12700">
            <a:solidFill>
              <a:srgbClr val="365275">
                <a:alpha val="7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2514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Core response schema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903720" y="2971800"/>
            <a:ext cx="32461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"score": "77%",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"risk": "LOW",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"text": "Audio appears authentic..." }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KopCoders | DeepShield AI | PS2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92840" y="6428232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1097280"/>
            <a:ext cx="4754880" cy="4754880"/>
          </a:xfrm>
          <a:prstGeom prst="arc">
            <a:avLst/>
          </a:prstGeom>
          <a:noFill/>
          <a:ln w="190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3840480"/>
            <a:ext cx="5029200" cy="5029200"/>
          </a:xfrm>
          <a:prstGeom prst="arc">
            <a:avLst/>
          </a:prstGeom>
          <a:noFill/>
          <a:ln w="13970">
            <a:solidFill>
              <a:srgbClr val="7DD3FC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384048"/>
            <a:ext cx="2240280" cy="292608"/>
          </a:xfrm>
          <a:prstGeom prst="roundRect">
            <a:avLst>
              <a:gd name="adj" fmla="val 18750"/>
            </a:avLst>
          </a:prstGeom>
          <a:solidFill>
            <a:srgbClr val="132A4B">
              <a:alpha val="92000"/>
            </a:srgbClr>
          </a:solidFill>
          <a:ln w="12700">
            <a:solidFill>
              <a:srgbClr val="365275">
                <a:alpha val="9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70916"/>
            <a:ext cx="118872" cy="11887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466344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7D8F5"/>
                </a:solidFill>
              </a:rPr>
              <a:t>HONEST LIMITS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Deepfake detection is probabilistic, so the roadmap matters.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12648" y="153619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AB6C6"/>
                </a:solidFill>
              </a:rPr>
              <a:t>The current app is a strong prototype; production would need broader training and calibration.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777240" y="1965960"/>
            <a:ext cx="4800600" cy="3246120"/>
          </a:xfrm>
          <a:prstGeom prst="roundRect">
            <a:avLst>
              <a:gd name="adj" fmla="val 2254"/>
            </a:avLst>
          </a:prstGeom>
          <a:solidFill>
            <a:srgbClr val="101B2F"/>
          </a:solidFill>
          <a:ln w="12700">
            <a:solidFill>
              <a:srgbClr val="365275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331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Current limitations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51560" y="2907792"/>
            <a:ext cx="73152" cy="7315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28529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Noise, compression, and short clips can affect features.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51560" y="3483864"/>
            <a:ext cx="73152" cy="7315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6152" y="34290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Random Forest is lightweight but not state-of-the-art.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51560" y="4059936"/>
            <a:ext cx="73152" cy="7315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16152" y="40050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Score should be treated as risk screening, not forensic proof.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46520" y="1965960"/>
            <a:ext cx="4800600" cy="3246120"/>
          </a:xfrm>
          <a:prstGeom prst="roundRect">
            <a:avLst>
              <a:gd name="adj" fmla="val 2254"/>
            </a:avLst>
          </a:prstGeom>
          <a:solidFill>
            <a:srgbClr val="101B2F"/>
          </a:solidFill>
          <a:ln w="12700">
            <a:solidFill>
              <a:srgbClr val="365275">
                <a:alpha val="7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2331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Next improvements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20840" y="2907792"/>
            <a:ext cx="73152" cy="7315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85432" y="28529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Train on more speakers, accents, devices, and spoofing methods.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20840" y="3483864"/>
            <a:ext cx="73152" cy="7315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85432" y="34290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Add spectrogram CNN model for stronger audio detection.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20840" y="4059936"/>
            <a:ext cx="73152" cy="7315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85432" y="40050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Return evidence details and confidence calibration.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KopCoders | DeepShield AI | PS2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292840" y="6428232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1097280"/>
            <a:ext cx="4754880" cy="4754880"/>
          </a:xfrm>
          <a:prstGeom prst="arc">
            <a:avLst/>
          </a:prstGeom>
          <a:noFill/>
          <a:ln w="1905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3840480"/>
            <a:ext cx="5029200" cy="5029200"/>
          </a:xfrm>
          <a:prstGeom prst="arc">
            <a:avLst/>
          </a:prstGeom>
          <a:noFill/>
          <a:ln w="13970">
            <a:solidFill>
              <a:srgbClr val="7DD3FC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384048"/>
            <a:ext cx="2240280" cy="292608"/>
          </a:xfrm>
          <a:prstGeom prst="roundRect">
            <a:avLst>
              <a:gd name="adj" fmla="val 18750"/>
            </a:avLst>
          </a:prstGeom>
          <a:solidFill>
            <a:srgbClr val="132A4B">
              <a:alpha val="92000"/>
            </a:srgbClr>
          </a:solidFill>
          <a:ln w="12700">
            <a:solidFill>
              <a:srgbClr val="365275">
                <a:alpha val="9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70916"/>
            <a:ext cx="118872" cy="11887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466344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7D8F5"/>
                </a:solidFill>
              </a:rPr>
              <a:t>CLOSING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DeepShield makes suspicious audio easier to question before it spreads.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12648" y="153619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AB6C6"/>
                </a:solidFill>
              </a:rPr>
              <a:t>A practical local-first screening tool for voice authenticity.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960120" y="2240280"/>
            <a:ext cx="2880360" cy="2148840"/>
          </a:xfrm>
          <a:prstGeom prst="roundRect">
            <a:avLst>
              <a:gd name="adj" fmla="val 3404"/>
            </a:avLst>
          </a:prstGeom>
          <a:solidFill>
            <a:srgbClr val="101B2F"/>
          </a:solidFill>
          <a:ln w="12700">
            <a:solidFill>
              <a:srgbClr val="365275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240280"/>
            <a:ext cx="2880360" cy="2148840"/>
          </a:xfrm>
          <a:prstGeom prst="roundRect">
            <a:avLst>
              <a:gd name="adj" fmla="val 3404"/>
            </a:avLst>
          </a:prstGeom>
          <a:solidFill>
            <a:srgbClr val="101B2F"/>
          </a:solidFill>
          <a:ln w="12700">
            <a:solidFill>
              <a:srgbClr val="365275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75320" y="2240280"/>
            <a:ext cx="2880360" cy="2148840"/>
          </a:xfrm>
          <a:prstGeom prst="roundRect">
            <a:avLst>
              <a:gd name="adj" fmla="val 3404"/>
            </a:avLst>
          </a:prstGeom>
          <a:solidFill>
            <a:srgbClr val="101B2F"/>
          </a:solidFill>
          <a:ln w="12700">
            <a:solidFill>
              <a:srgbClr val="365275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1872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DD3FC"/>
                </a:solidFill>
              </a:rPr>
              <a:t>Fast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61872" y="3291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C6"/>
                </a:solidFill>
              </a:rPr>
              <a:t>Runs locally with saved model inference.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19472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</a:rPr>
              <a:t>Clear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19472" y="3291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C6"/>
                </a:solidFill>
              </a:rPr>
              <a:t>Shows a score, risk badge, and explanation.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577072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Private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77072" y="3291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C6"/>
                </a:solidFill>
              </a:rPr>
              <a:t>Deletes temporary uploads after processing.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94560" y="52303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KopCoders - DeepShield AI - PS2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1148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KopCoders | DeepShield AI | PS2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92840" y="6428232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KopCoders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DeepShield AI</dc:title>
  <dc:subject>DeepShield AI audio deepfake detection</dc:subject>
  <dc:creator>KopCoders</dc:creator>
  <cp:lastModifiedBy>KopCoders</cp:lastModifiedBy>
  <cp:revision>1</cp:revision>
  <dcterms:created xsi:type="dcterms:W3CDTF">2026-05-15T05:13:05Z</dcterms:created>
  <dcterms:modified xsi:type="dcterms:W3CDTF">2026-05-15T05:13:05Z</dcterms:modified>
</cp:coreProperties>
</file>